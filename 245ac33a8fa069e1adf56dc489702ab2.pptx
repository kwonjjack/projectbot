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18288000" cy="10287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4966" orient="horz"/>
        <p:guide pos="2918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>
            <a:lumMod val="95000"/>
            <a:alpha val="97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401120" name=""/>
          <p:cNvSpPr/>
          <p:nvPr/>
        </p:nvSpPr>
        <p:spPr bwMode="auto">
          <a:xfrm rot="0" flipH="1" flipV="0">
            <a:off x="13209625" y="1365249"/>
            <a:ext cx="5080219" cy="8955003"/>
          </a:xfrm>
          <a:prstGeom prst="rtTriangle">
            <a:avLst/>
          </a:prstGeom>
          <a:solidFill>
            <a:srgbClr val="00B0F0">
              <a:alpha val="49999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Box 6"/>
          <p:cNvSpPr txBox="1"/>
          <p:nvPr/>
        </p:nvSpPr>
        <p:spPr bwMode="auto">
          <a:xfrm rot="0" flipH="0" flipV="0">
            <a:off x="14635926" y="-9704"/>
            <a:ext cx="3654278" cy="444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lang="en-US" sz="2500" b="1" i="0" u="none" strike="noStrike" cap="none" spc="0">
                <a:solidFill>
                  <a:srgbClr val="272626"/>
                </a:solidFill>
                <a:latin typeface="NanumBarunGothic"/>
                <a:ea typeface="NanumBarunGothic"/>
                <a:cs typeface="NanumBarunGothic"/>
              </a:rPr>
              <a:t>AX 로보틱스 부트캠프</a:t>
            </a:r>
            <a:endParaRPr>
              <a:latin typeface="NanumBarunGothic"/>
              <a:cs typeface="NanumBarunGothic"/>
            </a:endParaRPr>
          </a:p>
        </p:txBody>
      </p:sp>
      <p:sp>
        <p:nvSpPr>
          <p:cNvPr id="8" name="TextBox 8"/>
          <p:cNvSpPr txBox="1"/>
          <p:nvPr/>
        </p:nvSpPr>
        <p:spPr bwMode="auto">
          <a:xfrm rot="0" flipH="0" flipV="0">
            <a:off x="13884907" y="9380093"/>
            <a:ext cx="6246042" cy="71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200" b="1">
                <a:solidFill>
                  <a:srgbClr val="272626">
                    <a:alpha val="99999"/>
                  </a:srgbClr>
                </a:solidFill>
                <a:latin typeface="Noto Sans Kr Light"/>
                <a:ea typeface="Noto Sans Kr Light"/>
                <a:cs typeface="Noto Sans Kr Light"/>
              </a:rPr>
              <a:t>팀 장 : 김민성</a:t>
            </a:r>
            <a:endParaRPr sz="2200" b="1">
              <a:solidFill>
                <a:srgbClr val="272626">
                  <a:alpha val="99999"/>
                </a:srgbClr>
              </a:solidFill>
              <a:latin typeface="Noto Sans Kr Light"/>
              <a:ea typeface="Noto Sans Kr Light"/>
              <a:cs typeface="Noto Sans Kr Light"/>
            </a:endParaRPr>
          </a:p>
          <a:p>
            <a:pPr algn="l">
              <a:lnSpc>
                <a:spcPts val="2800"/>
              </a:lnSpc>
              <a:defRPr/>
            </a:pPr>
            <a:r>
              <a:rPr lang="en-US" sz="2200" b="1">
                <a:solidFill>
                  <a:srgbClr val="272626">
                    <a:alpha val="99999"/>
                  </a:srgbClr>
                </a:solidFill>
                <a:latin typeface="Noto Sans Kr Light"/>
                <a:ea typeface="Noto Sans Kr Light"/>
                <a:cs typeface="Noto Sans Kr Light"/>
              </a:rPr>
              <a:t>팀 원 :권재현, 권주원, 박상욱, 김동혁</a:t>
            </a:r>
            <a:endParaRPr sz="2200" b="1">
              <a:solidFill>
                <a:srgbClr val="272626">
                  <a:alpha val="99999"/>
                </a:srgbClr>
              </a:solidFill>
              <a:latin typeface="Noto Sans Kr Light"/>
              <a:ea typeface="Noto Sans Kr Light"/>
              <a:cs typeface="Noto Sans Kr Light"/>
            </a:endParaRPr>
          </a:p>
        </p:txBody>
      </p:sp>
      <p:sp>
        <p:nvSpPr>
          <p:cNvPr id="1053762667" name="TextBox 5"/>
          <p:cNvSpPr txBox="1"/>
          <p:nvPr/>
        </p:nvSpPr>
        <p:spPr bwMode="auto">
          <a:xfrm rot="0" flipH="0" flipV="0">
            <a:off x="2098659" y="3396290"/>
            <a:ext cx="13824248" cy="2972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defRPr/>
            </a:pPr>
            <a:r>
              <a:rPr lang="en-US" sz="9000" b="1" i="0" u="none" strike="noStrike" cap="none" spc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  <a:latin typeface="Noto Sans Kr Bold"/>
                <a:ea typeface="Noto Sans Kr Bold"/>
                <a:cs typeface="Noto Sans Kr Bold"/>
              </a:rPr>
              <a:t>AI 음성 명령 기반 </a:t>
            </a:r>
            <a:endParaRPr sz="9000" b="1" i="0" u="none" strike="noStrike" cap="none" spc="0">
              <a:ln>
                <a:noFill/>
              </a:ln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5400000" scaled="1"/>
              </a:gradFill>
              <a:latin typeface="Noto Sans Kr Bold"/>
              <a:cs typeface="Noto Sans Kr Bold"/>
            </a:endParaRPr>
          </a:p>
          <a:p>
            <a:pPr algn="ctr">
              <a:lnSpc>
                <a:spcPts val="12598"/>
              </a:lnSpc>
              <a:defRPr/>
            </a:pPr>
            <a:r>
              <a:rPr lang="en-US" sz="9000" b="1" i="0" u="none" strike="noStrike" cap="none" spc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  <a:latin typeface="Noto Sans Kr Bold"/>
                <a:ea typeface="Noto Sans Kr Bold"/>
                <a:cs typeface="Noto Sans Kr Bold"/>
              </a:rPr>
              <a:t>터틀봇 제어 시스템</a:t>
            </a:r>
            <a:endParaRPr>
              <a:ln>
                <a:noFill/>
              </a:ln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803943608" name=""/>
          <p:cNvSpPr/>
          <p:nvPr/>
        </p:nvSpPr>
        <p:spPr bwMode="auto">
          <a:xfrm rot="10799999" flipH="1" flipV="0">
            <a:off x="-20599" y="-9704"/>
            <a:ext cx="5080219" cy="8955003"/>
          </a:xfrm>
          <a:prstGeom prst="rtTriangle">
            <a:avLst/>
          </a:prstGeom>
          <a:solidFill>
            <a:srgbClr val="00B0F0">
              <a:alpha val="49999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6876854" name="TextBox 6"/>
          <p:cNvSpPr txBox="1"/>
          <p:nvPr/>
        </p:nvSpPr>
        <p:spPr bwMode="auto">
          <a:xfrm rot="0" flipH="0" flipV="0">
            <a:off x="6784397" y="6675592"/>
            <a:ext cx="3676238" cy="719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9"/>
              </a:lnSpc>
              <a:defRPr/>
            </a:pPr>
            <a:r>
              <a:rPr lang="en-US" sz="2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5 조</a:t>
            </a:r>
            <a:endParaRPr sz="2000" b="1" i="0" u="none" strike="noStrike" cap="none" spc="0">
              <a:solidFill>
                <a:srgbClr val="272626"/>
              </a:solidFill>
              <a:latin typeface="Noto Sans Kr Bold"/>
              <a:ea typeface="Noto Sans Kr Bold"/>
              <a:cs typeface="Noto Sans Kr Bold"/>
            </a:endParaRPr>
          </a:p>
          <a:p>
            <a:pPr algn="ctr">
              <a:lnSpc>
                <a:spcPts val="2829"/>
              </a:lnSpc>
              <a:defRPr/>
            </a:pPr>
            <a:r>
              <a:rPr lang="en-US" sz="2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말해봇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EDEDE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 rot="0">
            <a:off x="1790839" y="3893553"/>
            <a:ext cx="7043266" cy="399554"/>
            <a:chOff x="0" y="0"/>
            <a:chExt cx="831382" cy="4716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31382" cy="47163"/>
            </a:xfrm>
            <a:custGeom>
              <a:avLst/>
              <a:gdLst/>
              <a:ahLst/>
              <a:cxnLst/>
              <a:rect l="l" t="t" r="r" b="b"/>
              <a:pathLst>
                <a:path w="831382" h="47163" fill="norm" stroke="1" extrusionOk="0">
                  <a:moveTo>
                    <a:pt x="0" y="0"/>
                  </a:moveTo>
                  <a:lnTo>
                    <a:pt x="831382" y="0"/>
                  </a:lnTo>
                  <a:lnTo>
                    <a:pt x="831382" y="47163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-38100"/>
              <a:ext cx="831382" cy="852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 bwMode="auto">
          <a:xfrm rot="0">
            <a:off x="1790839" y="4807953"/>
            <a:ext cx="7043266" cy="399554"/>
            <a:chOff x="0" y="0"/>
            <a:chExt cx="831382" cy="47163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831382" cy="47163"/>
            </a:xfrm>
            <a:custGeom>
              <a:avLst/>
              <a:gdLst/>
              <a:ahLst/>
              <a:cxnLst/>
              <a:rect l="l" t="t" r="r" b="b"/>
              <a:pathLst>
                <a:path w="831382" h="47163" fill="norm" stroke="1" extrusionOk="0">
                  <a:moveTo>
                    <a:pt x="0" y="0"/>
                  </a:moveTo>
                  <a:lnTo>
                    <a:pt x="831382" y="0"/>
                  </a:lnTo>
                  <a:lnTo>
                    <a:pt x="831382" y="47163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 bwMode="auto">
            <a:xfrm>
              <a:off x="0" y="-38100"/>
              <a:ext cx="831382" cy="852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 bwMode="auto">
          <a:xfrm rot="0">
            <a:off x="1790839" y="5718929"/>
            <a:ext cx="7043266" cy="399554"/>
            <a:chOff x="0" y="0"/>
            <a:chExt cx="831382" cy="4716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831382" cy="47163"/>
            </a:xfrm>
            <a:custGeom>
              <a:avLst/>
              <a:gdLst/>
              <a:ahLst/>
              <a:cxnLst/>
              <a:rect l="l" t="t" r="r" b="b"/>
              <a:pathLst>
                <a:path w="831382" h="47163" fill="norm" stroke="1" extrusionOk="0">
                  <a:moveTo>
                    <a:pt x="0" y="0"/>
                  </a:moveTo>
                  <a:lnTo>
                    <a:pt x="831382" y="0"/>
                  </a:lnTo>
                  <a:lnTo>
                    <a:pt x="831382" y="47163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38100"/>
              <a:ext cx="831382" cy="852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 bwMode="auto">
          <a:xfrm rot="0">
            <a:off x="1974989" y="3620255"/>
            <a:ext cx="4862588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배경 및 목적</a:t>
            </a:r>
            <a:endParaRPr/>
          </a:p>
        </p:txBody>
      </p:sp>
      <p:sp>
        <p:nvSpPr>
          <p:cNvPr id="12" name="TextBox 12"/>
          <p:cNvSpPr txBox="1"/>
          <p:nvPr/>
        </p:nvSpPr>
        <p:spPr bwMode="auto">
          <a:xfrm rot="0">
            <a:off x="1974989" y="1292225"/>
            <a:ext cx="1596332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목차</a:t>
            </a:r>
            <a:endParaRPr/>
          </a:p>
        </p:txBody>
      </p:sp>
      <p:sp>
        <p:nvSpPr>
          <p:cNvPr id="13" name="TextBox 13"/>
          <p:cNvSpPr txBox="1"/>
          <p:nvPr/>
        </p:nvSpPr>
        <p:spPr bwMode="auto">
          <a:xfrm rot="0">
            <a:off x="1974989" y="4534655"/>
            <a:ext cx="4858988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핵심 목표</a:t>
            </a:r>
            <a:endParaRPr/>
          </a:p>
        </p:txBody>
      </p:sp>
      <p:sp>
        <p:nvSpPr>
          <p:cNvPr id="14" name="TextBox 14"/>
          <p:cNvSpPr txBox="1"/>
          <p:nvPr/>
        </p:nvSpPr>
        <p:spPr bwMode="auto">
          <a:xfrm rot="0">
            <a:off x="1974989" y="5445632"/>
            <a:ext cx="4870508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아키텍처 흐름</a:t>
            </a:r>
            <a:endParaRPr/>
          </a:p>
        </p:txBody>
      </p:sp>
      <p:sp>
        <p:nvSpPr>
          <p:cNvPr id="15" name="TextBox 15"/>
          <p:cNvSpPr txBox="1"/>
          <p:nvPr/>
        </p:nvSpPr>
        <p:spPr bwMode="auto">
          <a:xfrm rot="0">
            <a:off x="9030476" y="3904417"/>
            <a:ext cx="57882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72626"/>
                </a:solidFill>
                <a:latin typeface="Noto Sans Kr"/>
                <a:ea typeface="Noto Sans Kr"/>
                <a:cs typeface="Noto Sans Kr"/>
              </a:rPr>
              <a:t>01</a:t>
            </a:r>
            <a:endParaRPr/>
          </a:p>
        </p:txBody>
      </p:sp>
      <p:sp>
        <p:nvSpPr>
          <p:cNvPr id="16" name="TextBox 16"/>
          <p:cNvSpPr txBox="1"/>
          <p:nvPr/>
        </p:nvSpPr>
        <p:spPr bwMode="auto">
          <a:xfrm rot="0">
            <a:off x="9030476" y="4818817"/>
            <a:ext cx="57882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72626"/>
                </a:solidFill>
                <a:latin typeface="Noto Sans Kr"/>
                <a:ea typeface="Noto Sans Kr"/>
                <a:cs typeface="Noto Sans Kr"/>
              </a:rPr>
              <a:t>02</a:t>
            </a:r>
            <a:endParaRPr/>
          </a:p>
        </p:txBody>
      </p:sp>
      <p:sp>
        <p:nvSpPr>
          <p:cNvPr id="17" name="TextBox 17"/>
          <p:cNvSpPr txBox="1"/>
          <p:nvPr/>
        </p:nvSpPr>
        <p:spPr bwMode="auto">
          <a:xfrm rot="0" flipH="0" flipV="0">
            <a:off x="9030476" y="5729793"/>
            <a:ext cx="1827140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72626"/>
                </a:solidFill>
                <a:latin typeface="Noto Sans Kr"/>
                <a:ea typeface="Noto Sans Kr"/>
                <a:cs typeface="Noto Sans Kr"/>
              </a:rPr>
              <a:t>03 ~ 04</a:t>
            </a:r>
            <a:endParaRPr/>
          </a:p>
        </p:txBody>
      </p:sp>
      <p:grpSp>
        <p:nvGrpSpPr>
          <p:cNvPr id="18" name="Group 18"/>
          <p:cNvGrpSpPr/>
          <p:nvPr/>
        </p:nvGrpSpPr>
        <p:grpSpPr bwMode="auto">
          <a:xfrm rot="0">
            <a:off x="1790839" y="6629907"/>
            <a:ext cx="7043266" cy="399554"/>
            <a:chOff x="0" y="0"/>
            <a:chExt cx="831382" cy="47163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31382" cy="47163"/>
            </a:xfrm>
            <a:custGeom>
              <a:avLst/>
              <a:gdLst/>
              <a:ahLst/>
              <a:cxnLst/>
              <a:rect l="l" t="t" r="r" b="b"/>
              <a:pathLst>
                <a:path w="831382" h="47163" fill="norm" stroke="1" extrusionOk="0">
                  <a:moveTo>
                    <a:pt x="0" y="0"/>
                  </a:moveTo>
                  <a:lnTo>
                    <a:pt x="831382" y="0"/>
                  </a:lnTo>
                  <a:lnTo>
                    <a:pt x="831382" y="47163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0" y="-38100"/>
              <a:ext cx="831382" cy="852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 bwMode="auto">
          <a:xfrm rot="0" flipH="0" flipV="0">
            <a:off x="1974989" y="6356609"/>
            <a:ext cx="6811198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인터페이스 및 작동 방식</a:t>
            </a:r>
            <a:endParaRPr/>
          </a:p>
        </p:txBody>
      </p:sp>
      <p:sp>
        <p:nvSpPr>
          <p:cNvPr id="22" name="TextBox 22"/>
          <p:cNvSpPr txBox="1"/>
          <p:nvPr/>
        </p:nvSpPr>
        <p:spPr bwMode="auto">
          <a:xfrm rot="0">
            <a:off x="9030476" y="6640771"/>
            <a:ext cx="57918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72626"/>
                </a:solidFill>
                <a:latin typeface="Noto Sans Kr"/>
                <a:ea typeface="Noto Sans Kr"/>
                <a:cs typeface="Noto Sans Kr"/>
              </a:rPr>
              <a:t>05</a:t>
            </a:r>
            <a:endParaRPr/>
          </a:p>
        </p:txBody>
      </p:sp>
      <p:grpSp>
        <p:nvGrpSpPr>
          <p:cNvPr id="23" name="Group 23"/>
          <p:cNvGrpSpPr/>
          <p:nvPr/>
        </p:nvGrpSpPr>
        <p:grpSpPr bwMode="auto">
          <a:xfrm rot="0">
            <a:off x="1790839" y="7540884"/>
            <a:ext cx="7043266" cy="399554"/>
            <a:chOff x="0" y="0"/>
            <a:chExt cx="831382" cy="47163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831382" cy="47163"/>
            </a:xfrm>
            <a:custGeom>
              <a:avLst/>
              <a:gdLst/>
              <a:ahLst/>
              <a:cxnLst/>
              <a:rect l="l" t="t" r="r" b="b"/>
              <a:pathLst>
                <a:path w="831382" h="47163" fill="norm" stroke="1" extrusionOk="0">
                  <a:moveTo>
                    <a:pt x="0" y="0"/>
                  </a:moveTo>
                  <a:lnTo>
                    <a:pt x="831382" y="0"/>
                  </a:lnTo>
                  <a:lnTo>
                    <a:pt x="831382" y="47163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25" name="TextBox 25"/>
            <p:cNvSpPr txBox="1"/>
            <p:nvPr/>
          </p:nvSpPr>
          <p:spPr bwMode="auto">
            <a:xfrm>
              <a:off x="0" y="-38100"/>
              <a:ext cx="831382" cy="852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 bwMode="auto">
          <a:xfrm rot="0">
            <a:off x="1974989" y="7267586"/>
            <a:ext cx="5889908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문제 해결 및 </a:t>
            </a: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고찰</a:t>
            </a:r>
            <a:endParaRPr/>
          </a:p>
        </p:txBody>
      </p:sp>
      <p:sp>
        <p:nvSpPr>
          <p:cNvPr id="27" name="TextBox 27"/>
          <p:cNvSpPr txBox="1"/>
          <p:nvPr/>
        </p:nvSpPr>
        <p:spPr bwMode="auto">
          <a:xfrm rot="0" flipH="0" flipV="0">
            <a:off x="9030476" y="7551747"/>
            <a:ext cx="1942097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72626"/>
                </a:solidFill>
                <a:latin typeface="Noto Sans Kr"/>
                <a:ea typeface="Noto Sans Kr"/>
                <a:cs typeface="Noto Sans Kr"/>
              </a:rPr>
              <a:t>06~07</a:t>
            </a:r>
            <a:endParaRPr/>
          </a:p>
        </p:txBody>
      </p:sp>
      <p:grpSp>
        <p:nvGrpSpPr>
          <p:cNvPr id="1826105215" name="Group 23"/>
          <p:cNvGrpSpPr/>
          <p:nvPr/>
        </p:nvGrpSpPr>
        <p:grpSpPr bwMode="auto">
          <a:xfrm rot="0">
            <a:off x="1789759" y="8420993"/>
            <a:ext cx="7043266" cy="399554"/>
            <a:chOff x="0" y="0"/>
            <a:chExt cx="831382" cy="47163"/>
          </a:xfrm>
        </p:grpSpPr>
        <p:sp>
          <p:nvSpPr>
            <p:cNvPr id="1955113060" name="Freeform 24"/>
            <p:cNvSpPr/>
            <p:nvPr/>
          </p:nvSpPr>
          <p:spPr bwMode="auto">
            <a:xfrm rot="0" flipH="0" flipV="0">
              <a:off x="0" y="0"/>
              <a:ext cx="831382" cy="47163"/>
            </a:xfrm>
            <a:custGeom>
              <a:avLst/>
              <a:gdLst/>
              <a:ahLst/>
              <a:cxnLst/>
              <a:rect l="l" t="t" r="r" b="b"/>
              <a:pathLst>
                <a:path w="831382" h="47163" fill="norm" stroke="1" extrusionOk="0">
                  <a:moveTo>
                    <a:pt x="0" y="0"/>
                  </a:moveTo>
                  <a:lnTo>
                    <a:pt x="831382" y="0"/>
                  </a:lnTo>
                  <a:lnTo>
                    <a:pt x="831382" y="47163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58148875" name="TextBox 25"/>
            <p:cNvSpPr txBox="1"/>
            <p:nvPr/>
          </p:nvSpPr>
          <p:spPr bwMode="auto">
            <a:xfrm>
              <a:off x="0" y="-38100"/>
              <a:ext cx="831382" cy="852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1064429694" name="TextBox 26"/>
          <p:cNvSpPr txBox="1"/>
          <p:nvPr/>
        </p:nvSpPr>
        <p:spPr bwMode="auto">
          <a:xfrm rot="0">
            <a:off x="1973909" y="8147695"/>
            <a:ext cx="5875509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시연 영상 및 Q&amp;A</a:t>
            </a:r>
            <a:endParaRPr/>
          </a:p>
        </p:txBody>
      </p:sp>
      <p:sp>
        <p:nvSpPr>
          <p:cNvPr id="1369282412" name="TextBox 27"/>
          <p:cNvSpPr txBox="1"/>
          <p:nvPr/>
        </p:nvSpPr>
        <p:spPr bwMode="auto">
          <a:xfrm rot="0" flipH="0" flipV="0">
            <a:off x="9029396" y="8431857"/>
            <a:ext cx="4063108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72626"/>
                </a:solidFill>
                <a:latin typeface="Noto Sans Kr"/>
                <a:ea typeface="Noto Sans Kr"/>
                <a:cs typeface="Noto Sans Kr"/>
              </a:rPr>
              <a:t>08</a:t>
            </a:r>
            <a:r>
              <a:rPr/>
              <a:t>~09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EDEDE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 rot="0">
            <a:off x="659057" y="3108497"/>
            <a:ext cx="5333078" cy="4112159"/>
            <a:chOff x="0" y="0"/>
            <a:chExt cx="1097341" cy="84612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 bwMode="auto">
          <a:xfrm rot="0">
            <a:off x="6477461" y="3123947"/>
            <a:ext cx="5333078" cy="4112159"/>
            <a:chOff x="0" y="0"/>
            <a:chExt cx="1097341" cy="846123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 bwMode="auto">
          <a:xfrm rot="0">
            <a:off x="12295865" y="3123947"/>
            <a:ext cx="5333078" cy="4112159"/>
            <a:chOff x="0" y="0"/>
            <a:chExt cx="1097341" cy="84612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 bwMode="auto">
          <a:xfrm rot="0">
            <a:off x="1028700" y="3595385"/>
            <a:ext cx="878444" cy="334807"/>
            <a:chOff x="0" y="0"/>
            <a:chExt cx="180750" cy="6889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6" name="TextBox 16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grpSp>
        <p:nvGrpSpPr>
          <p:cNvPr id="17" name="Group 17"/>
          <p:cNvGrpSpPr/>
          <p:nvPr/>
        </p:nvGrpSpPr>
        <p:grpSpPr bwMode="auto">
          <a:xfrm rot="0">
            <a:off x="0" y="8245755"/>
            <a:ext cx="18288000" cy="2041245"/>
            <a:chOff x="0" y="0"/>
            <a:chExt cx="3762963" cy="420009"/>
          </a:xfrm>
        </p:grpSpPr>
        <p:sp>
          <p:nvSpPr>
            <p:cNvPr id="18" name="Freeform 18"/>
            <p:cNvSpPr/>
            <p:nvPr/>
          </p:nvSpPr>
          <p:spPr bwMode="auto">
            <a:xfrm rot="0" flipH="0" flipV="0">
              <a:off x="0" y="0"/>
              <a:ext cx="3762963" cy="420009"/>
            </a:xfrm>
            <a:custGeom>
              <a:avLst/>
              <a:gdLst/>
              <a:ahLst/>
              <a:cxnLst/>
              <a:rect l="l" t="t" r="r" b="b"/>
              <a:pathLst>
                <a:path w="3762963" h="420009" fill="norm" stroke="1" extrusionOk="0">
                  <a:moveTo>
                    <a:pt x="0" y="0"/>
                  </a:moveTo>
                  <a:lnTo>
                    <a:pt x="3762963" y="0"/>
                  </a:lnTo>
                  <a:lnTo>
                    <a:pt x="3762963" y="420009"/>
                  </a:lnTo>
                  <a:lnTo>
                    <a:pt x="0" y="420009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9" name="TextBox 19"/>
            <p:cNvSpPr txBox="1"/>
            <p:nvPr/>
          </p:nvSpPr>
          <p:spPr bwMode="auto">
            <a:xfrm>
              <a:off x="0" y="-38100"/>
              <a:ext cx="3762963" cy="45810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 bwMode="auto">
          <a:xfrm rot="0">
            <a:off x="6842105" y="3595385"/>
            <a:ext cx="878444" cy="334807"/>
            <a:chOff x="0" y="0"/>
            <a:chExt cx="180750" cy="68890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 bwMode="auto">
          <a:xfrm rot="0">
            <a:off x="12660509" y="3595385"/>
            <a:ext cx="878444" cy="334807"/>
            <a:chOff x="0" y="0"/>
            <a:chExt cx="180750" cy="68890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25" name="TextBox 25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 bwMode="auto">
          <a:xfrm rot="0">
            <a:off x="1028700" y="4830842"/>
            <a:ext cx="4730149" cy="152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기존의 복잡한 조이스틱이나 터미널 기반 제어에서 벗어나, 여러 LLM(대규모 언어 모델)의 고도화된 음성 인식 기술을 통해 인간의 일상적인 자연어로 로봇을 구동하는 새로운 패러다임을 제시합니다.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27" name="TextBox 27"/>
          <p:cNvSpPr txBox="1"/>
          <p:nvPr/>
        </p:nvSpPr>
        <p:spPr bwMode="auto">
          <a:xfrm rot="0" flipH="0" flipV="0">
            <a:off x="1028699" y="4116449"/>
            <a:ext cx="418076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생성형 AI 기술의 진화</a:t>
            </a:r>
            <a:endParaRPr/>
          </a:p>
        </p:txBody>
      </p:sp>
      <p:sp>
        <p:nvSpPr>
          <p:cNvPr id="28" name="TextBox 28"/>
          <p:cNvSpPr txBox="1"/>
          <p:nvPr/>
        </p:nvSpPr>
        <p:spPr bwMode="auto">
          <a:xfrm rot="0">
            <a:off x="1205017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첫번째</a:t>
            </a:r>
            <a:endParaRPr/>
          </a:p>
        </p:txBody>
      </p:sp>
      <p:sp>
        <p:nvSpPr>
          <p:cNvPr id="29" name="TextBox 29"/>
          <p:cNvSpPr txBox="1"/>
          <p:nvPr/>
        </p:nvSpPr>
        <p:spPr bwMode="auto">
          <a:xfrm rot="0">
            <a:off x="6720986" y="1149911"/>
            <a:ext cx="4862588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배경 및 목적</a:t>
            </a:r>
            <a:endParaRPr/>
          </a:p>
        </p:txBody>
      </p:sp>
      <p:sp>
        <p:nvSpPr>
          <p:cNvPr id="30" name="TextBox 30"/>
          <p:cNvSpPr txBox="1"/>
          <p:nvPr/>
        </p:nvSpPr>
        <p:spPr bwMode="auto">
          <a:xfrm rot="0">
            <a:off x="8477971" y="698837"/>
            <a:ext cx="133205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01</a:t>
            </a:r>
            <a:endParaRPr/>
          </a:p>
        </p:txBody>
      </p:sp>
      <p:sp>
        <p:nvSpPr>
          <p:cNvPr id="32" name="TextBox 32"/>
          <p:cNvSpPr txBox="1"/>
          <p:nvPr/>
        </p:nvSpPr>
        <p:spPr bwMode="auto">
          <a:xfrm rot="0">
            <a:off x="6842105" y="4830842"/>
            <a:ext cx="4605950" cy="152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20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별도의 컨트롤러나 전용 장비 없이, 누구나 보유한 스마트폰의 웹 브라우저를 활용하여 공간의 제약 없이 언제 어디서나 접근 가능한 직관적인 인터페이스를 제공합니다.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TextBox 33"/>
          <p:cNvSpPr txBox="1"/>
          <p:nvPr/>
        </p:nvSpPr>
        <p:spPr bwMode="auto">
          <a:xfrm rot="0" flipH="0" flipV="0">
            <a:off x="6842105" y="4116449"/>
            <a:ext cx="4901677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 사용자 친화적 모바일 제어</a:t>
            </a:r>
            <a:endParaRPr/>
          </a:p>
        </p:txBody>
      </p:sp>
      <p:sp>
        <p:nvSpPr>
          <p:cNvPr id="34" name="TextBox 34"/>
          <p:cNvSpPr txBox="1"/>
          <p:nvPr/>
        </p:nvSpPr>
        <p:spPr bwMode="auto">
          <a:xfrm rot="0">
            <a:off x="7018422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두번째</a:t>
            </a:r>
            <a:endParaRPr/>
          </a:p>
        </p:txBody>
      </p:sp>
      <p:sp>
        <p:nvSpPr>
          <p:cNvPr id="35" name="TextBox 35"/>
          <p:cNvSpPr txBox="1"/>
          <p:nvPr/>
        </p:nvSpPr>
        <p:spPr bwMode="auto">
          <a:xfrm rot="0">
            <a:off x="12660509" y="4830842"/>
            <a:ext cx="4604870" cy="1905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프론트엔드(Web/Mobile), 백엔드 서버(FastAPI), 인공지능(STT), 그리고 로봇 미들웨어(ROS2)를 지연 없는 단일 파이프라인으로 연결하여 최신 기술 간의 강력한 시너지 모델을 구축합니다.</a:t>
            </a:r>
            <a:endParaRPr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36" name="TextBox 36"/>
          <p:cNvSpPr txBox="1"/>
          <p:nvPr/>
        </p:nvSpPr>
        <p:spPr bwMode="auto">
          <a:xfrm rot="0" flipH="0" flipV="0">
            <a:off x="12660509" y="4116449"/>
            <a:ext cx="4933570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IT-로보틱스 융합 시스템 구축</a:t>
            </a:r>
            <a:endParaRPr/>
          </a:p>
        </p:txBody>
      </p:sp>
      <p:sp>
        <p:nvSpPr>
          <p:cNvPr id="37" name="TextBox 37"/>
          <p:cNvSpPr txBox="1"/>
          <p:nvPr/>
        </p:nvSpPr>
        <p:spPr bwMode="auto">
          <a:xfrm rot="0">
            <a:off x="12836826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세번째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0795497" name="Group 2"/>
          <p:cNvGrpSpPr/>
          <p:nvPr/>
        </p:nvGrpSpPr>
        <p:grpSpPr bwMode="auto">
          <a:xfrm rot="0">
            <a:off x="659057" y="3108497"/>
            <a:ext cx="5333078" cy="4112159"/>
            <a:chOff x="0" y="0"/>
            <a:chExt cx="1097341" cy="846123"/>
          </a:xfrm>
        </p:grpSpPr>
        <p:sp>
          <p:nvSpPr>
            <p:cNvPr id="33979307" name="Freeform 3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556204202" name="TextBox 4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614664183" name="Group 5"/>
          <p:cNvGrpSpPr/>
          <p:nvPr/>
        </p:nvGrpSpPr>
        <p:grpSpPr bwMode="auto">
          <a:xfrm rot="0">
            <a:off x="6477461" y="3123947"/>
            <a:ext cx="5333078" cy="4112159"/>
            <a:chOff x="0" y="0"/>
            <a:chExt cx="1097341" cy="846123"/>
          </a:xfrm>
        </p:grpSpPr>
        <p:sp>
          <p:nvSpPr>
            <p:cNvPr id="1665448798" name="Freeform 6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50921617" name="TextBox 7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751385577" name="Group 8"/>
          <p:cNvGrpSpPr/>
          <p:nvPr/>
        </p:nvGrpSpPr>
        <p:grpSpPr bwMode="auto">
          <a:xfrm rot="0">
            <a:off x="12295865" y="3123947"/>
            <a:ext cx="5333078" cy="4112159"/>
            <a:chOff x="0" y="0"/>
            <a:chExt cx="1097341" cy="846123"/>
          </a:xfrm>
        </p:grpSpPr>
        <p:sp>
          <p:nvSpPr>
            <p:cNvPr id="1716059784" name="Freeform 9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2074135132" name="TextBox 10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2145393331" name="Group 11"/>
          <p:cNvGrpSpPr/>
          <p:nvPr/>
        </p:nvGrpSpPr>
        <p:grpSpPr bwMode="auto">
          <a:xfrm rot="0">
            <a:off x="1028700" y="3595385"/>
            <a:ext cx="878444" cy="334807"/>
            <a:chOff x="0" y="0"/>
            <a:chExt cx="180750" cy="68890"/>
          </a:xfrm>
        </p:grpSpPr>
        <p:sp>
          <p:nvSpPr>
            <p:cNvPr id="748812763" name="Freeform 12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450989083" name="TextBox 13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682204972" name="Group 14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631737944" name="Freeform 15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232515918" name="TextBox 16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grpSp>
        <p:nvGrpSpPr>
          <p:cNvPr id="1285965260" name="Group 17"/>
          <p:cNvGrpSpPr/>
          <p:nvPr/>
        </p:nvGrpSpPr>
        <p:grpSpPr bwMode="auto">
          <a:xfrm rot="0">
            <a:off x="0" y="8245755"/>
            <a:ext cx="18288000" cy="2041245"/>
            <a:chOff x="0" y="0"/>
            <a:chExt cx="3762963" cy="420009"/>
          </a:xfrm>
        </p:grpSpPr>
        <p:sp>
          <p:nvSpPr>
            <p:cNvPr id="1261151244" name="Freeform 18"/>
            <p:cNvSpPr/>
            <p:nvPr/>
          </p:nvSpPr>
          <p:spPr bwMode="auto">
            <a:xfrm rot="0" flipH="0" flipV="0">
              <a:off x="0" y="0"/>
              <a:ext cx="3762963" cy="420009"/>
            </a:xfrm>
            <a:custGeom>
              <a:avLst/>
              <a:gdLst/>
              <a:ahLst/>
              <a:cxnLst/>
              <a:rect l="l" t="t" r="r" b="b"/>
              <a:pathLst>
                <a:path w="3762963" h="420009" fill="norm" stroke="1" extrusionOk="0">
                  <a:moveTo>
                    <a:pt x="0" y="0"/>
                  </a:moveTo>
                  <a:lnTo>
                    <a:pt x="3762963" y="0"/>
                  </a:lnTo>
                  <a:lnTo>
                    <a:pt x="3762963" y="420009"/>
                  </a:lnTo>
                  <a:lnTo>
                    <a:pt x="0" y="420009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874779584" name="TextBox 19"/>
            <p:cNvSpPr txBox="1"/>
            <p:nvPr/>
          </p:nvSpPr>
          <p:spPr bwMode="auto">
            <a:xfrm>
              <a:off x="0" y="-38100"/>
              <a:ext cx="3762963" cy="45810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228332767" name="Group 20"/>
          <p:cNvGrpSpPr/>
          <p:nvPr/>
        </p:nvGrpSpPr>
        <p:grpSpPr bwMode="auto">
          <a:xfrm rot="0">
            <a:off x="6842105" y="3595385"/>
            <a:ext cx="878444" cy="334807"/>
            <a:chOff x="0" y="0"/>
            <a:chExt cx="180750" cy="68890"/>
          </a:xfrm>
        </p:grpSpPr>
        <p:sp>
          <p:nvSpPr>
            <p:cNvPr id="375057030" name="Freeform 21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805930679" name="TextBox 22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40237272" name="Group 23"/>
          <p:cNvGrpSpPr/>
          <p:nvPr/>
        </p:nvGrpSpPr>
        <p:grpSpPr bwMode="auto">
          <a:xfrm rot="0">
            <a:off x="12660509" y="3595385"/>
            <a:ext cx="878444" cy="334807"/>
            <a:chOff x="0" y="0"/>
            <a:chExt cx="180750" cy="68890"/>
          </a:xfrm>
        </p:grpSpPr>
        <p:sp>
          <p:nvSpPr>
            <p:cNvPr id="339711099" name="Freeform 24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541777762" name="TextBox 25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1150226182" name="TextBox 26"/>
          <p:cNvSpPr txBox="1"/>
          <p:nvPr/>
        </p:nvSpPr>
        <p:spPr bwMode="auto">
          <a:xfrm rot="0">
            <a:off x="1028700" y="4830842"/>
            <a:ext cx="4730509" cy="76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AI를 활용하여 인간의 일상적인 음성 명령을 로봇이 이해할 수 있는 데이터로 변환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773927624" name="TextBox 27"/>
          <p:cNvSpPr txBox="1"/>
          <p:nvPr/>
        </p:nvSpPr>
        <p:spPr bwMode="auto">
          <a:xfrm rot="0" flipH="0" flipV="0">
            <a:off x="1028699" y="4116449"/>
            <a:ext cx="419588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자연어 해석</a:t>
            </a:r>
            <a:endParaRPr/>
          </a:p>
        </p:txBody>
      </p:sp>
      <p:sp>
        <p:nvSpPr>
          <p:cNvPr id="1583354202" name="TextBox 28"/>
          <p:cNvSpPr txBox="1"/>
          <p:nvPr/>
        </p:nvSpPr>
        <p:spPr bwMode="auto">
          <a:xfrm rot="0">
            <a:off x="1205017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첫번째</a:t>
            </a:r>
            <a:endParaRPr/>
          </a:p>
        </p:txBody>
      </p:sp>
      <p:sp>
        <p:nvSpPr>
          <p:cNvPr id="2108516655" name="TextBox 29"/>
          <p:cNvSpPr txBox="1"/>
          <p:nvPr/>
        </p:nvSpPr>
        <p:spPr bwMode="auto">
          <a:xfrm rot="0">
            <a:off x="6720986" y="1149911"/>
            <a:ext cx="4875547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핵심 목표</a:t>
            </a:r>
            <a:endParaRPr/>
          </a:p>
        </p:txBody>
      </p:sp>
      <p:sp>
        <p:nvSpPr>
          <p:cNvPr id="564013280" name="TextBox 30"/>
          <p:cNvSpPr txBox="1"/>
          <p:nvPr/>
        </p:nvSpPr>
        <p:spPr bwMode="auto">
          <a:xfrm rot="0">
            <a:off x="8477971" y="698837"/>
            <a:ext cx="133241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02</a:t>
            </a:r>
            <a:endParaRPr/>
          </a:p>
        </p:txBody>
      </p:sp>
      <p:sp>
        <p:nvSpPr>
          <p:cNvPr id="1353710854" name="TextBox 32"/>
          <p:cNvSpPr txBox="1"/>
          <p:nvPr/>
        </p:nvSpPr>
        <p:spPr bwMode="auto">
          <a:xfrm rot="0">
            <a:off x="6842105" y="4830842"/>
            <a:ext cx="4606310" cy="76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20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ROS2 Humble 환경에서 TurtleBot3의 전/후/좌/우 이동 및 정지 기능 완벽 구현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90853230" name="TextBox 33"/>
          <p:cNvSpPr txBox="1"/>
          <p:nvPr/>
        </p:nvSpPr>
        <p:spPr bwMode="auto">
          <a:xfrm rot="0" flipH="0" flipV="0">
            <a:off x="6842105" y="4116449"/>
            <a:ext cx="4920395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정밀 기동 제어</a:t>
            </a:r>
            <a:endParaRPr/>
          </a:p>
        </p:txBody>
      </p:sp>
      <p:sp>
        <p:nvSpPr>
          <p:cNvPr id="312046600" name="TextBox 34"/>
          <p:cNvSpPr txBox="1"/>
          <p:nvPr/>
        </p:nvSpPr>
        <p:spPr bwMode="auto">
          <a:xfrm rot="0">
            <a:off x="7018422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두번째</a:t>
            </a:r>
            <a:endParaRPr/>
          </a:p>
        </p:txBody>
      </p:sp>
      <p:sp>
        <p:nvSpPr>
          <p:cNvPr id="289334296" name="TextBox 35"/>
          <p:cNvSpPr txBox="1"/>
          <p:nvPr/>
        </p:nvSpPr>
        <p:spPr bwMode="auto">
          <a:xfrm rot="0">
            <a:off x="12660509" y="4830842"/>
            <a:ext cx="4605230" cy="76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FastAPI 서버와 ROS2 Node를 브릿지로 연결하여 지연 없는 명령 하달 시스템 구축</a:t>
            </a:r>
            <a:endParaRPr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806045551" name="TextBox 36"/>
          <p:cNvSpPr txBox="1"/>
          <p:nvPr/>
        </p:nvSpPr>
        <p:spPr bwMode="auto">
          <a:xfrm rot="0" flipH="0" flipV="0">
            <a:off x="12660509" y="4116449"/>
            <a:ext cx="495624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실시간 연동</a:t>
            </a:r>
            <a:endParaRPr/>
          </a:p>
        </p:txBody>
      </p:sp>
      <p:sp>
        <p:nvSpPr>
          <p:cNvPr id="1713205893" name="TextBox 37"/>
          <p:cNvSpPr txBox="1"/>
          <p:nvPr/>
        </p:nvSpPr>
        <p:spPr bwMode="auto">
          <a:xfrm rot="0">
            <a:off x="12836826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세번째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11" name="Freeform 11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sp>
        <p:nvSpPr>
          <p:cNvPr id="15" name="TextBox 15"/>
          <p:cNvSpPr txBox="1"/>
          <p:nvPr/>
        </p:nvSpPr>
        <p:spPr bwMode="auto">
          <a:xfrm rot="0" flipH="0" flipV="0">
            <a:off x="6179034" y="1232022"/>
            <a:ext cx="5929931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전체 아키텍처 흐름</a:t>
            </a:r>
            <a:endParaRPr/>
          </a:p>
        </p:txBody>
      </p:sp>
      <p:sp>
        <p:nvSpPr>
          <p:cNvPr id="16" name="TextBox 16"/>
          <p:cNvSpPr txBox="1"/>
          <p:nvPr/>
        </p:nvSpPr>
        <p:spPr bwMode="auto">
          <a:xfrm rot="0">
            <a:off x="8477971" y="698837"/>
            <a:ext cx="133241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03</a:t>
            </a:r>
            <a:endParaRPr/>
          </a:p>
        </p:txBody>
      </p:sp>
      <p:pic>
        <p:nvPicPr>
          <p:cNvPr id="314925918" name=""/>
          <p:cNvPicPr>
            <a:picLocks noChangeAspect="1"/>
          </p:cNvPicPr>
          <p:nvPr/>
        </p:nvPicPr>
        <p:blipFill>
          <a:blip r:embed="rId2"/>
          <a:srcRect l="0" t="0" r="0" b="77753"/>
          <a:stretch/>
        </p:blipFill>
        <p:spPr bwMode="auto">
          <a:xfrm flipH="0" flipV="0">
            <a:off x="6881813" y="2348404"/>
            <a:ext cx="4524375" cy="788276"/>
          </a:xfrm>
          <a:prstGeom prst="rect">
            <a:avLst/>
          </a:prstGeom>
        </p:spPr>
      </p:pic>
      <p:pic>
        <p:nvPicPr>
          <p:cNvPr id="480575879" name=""/>
          <p:cNvPicPr>
            <a:picLocks noChangeAspect="1"/>
          </p:cNvPicPr>
          <p:nvPr/>
        </p:nvPicPr>
        <p:blipFill>
          <a:blip r:embed="rId2"/>
          <a:srcRect l="0" t="20875" r="0" b="58268"/>
          <a:stretch/>
        </p:blipFill>
        <p:spPr bwMode="auto">
          <a:xfrm flipH="0" flipV="0">
            <a:off x="6881813" y="4039913"/>
            <a:ext cx="4524375" cy="739008"/>
          </a:xfrm>
          <a:prstGeom prst="rect">
            <a:avLst/>
          </a:prstGeom>
        </p:spPr>
      </p:pic>
      <p:pic>
        <p:nvPicPr>
          <p:cNvPr id="1766814118" name=""/>
          <p:cNvPicPr>
            <a:picLocks noChangeAspect="1"/>
          </p:cNvPicPr>
          <p:nvPr/>
        </p:nvPicPr>
        <p:blipFill>
          <a:blip r:embed="rId2"/>
          <a:srcRect l="0" t="38932" r="0" b="38413"/>
          <a:stretch/>
        </p:blipFill>
        <p:spPr bwMode="auto">
          <a:xfrm flipH="0" flipV="0">
            <a:off x="6881813" y="5732956"/>
            <a:ext cx="4524375" cy="802726"/>
          </a:xfrm>
          <a:prstGeom prst="rect">
            <a:avLst/>
          </a:prstGeom>
        </p:spPr>
      </p:pic>
      <p:pic>
        <p:nvPicPr>
          <p:cNvPr id="323472588" name=""/>
          <p:cNvPicPr>
            <a:picLocks noChangeAspect="1"/>
          </p:cNvPicPr>
          <p:nvPr/>
        </p:nvPicPr>
        <p:blipFill>
          <a:blip r:embed="rId2"/>
          <a:srcRect l="0" t="78401" r="0" b="0"/>
          <a:stretch/>
        </p:blipFill>
        <p:spPr bwMode="auto">
          <a:xfrm flipH="0" flipV="0">
            <a:off x="6881813" y="9204762"/>
            <a:ext cx="4524375" cy="765283"/>
          </a:xfrm>
          <a:prstGeom prst="rect">
            <a:avLst/>
          </a:prstGeom>
        </p:spPr>
      </p:pic>
      <p:pic>
        <p:nvPicPr>
          <p:cNvPr id="982868626" name=""/>
          <p:cNvPicPr>
            <a:picLocks noChangeAspect="1"/>
          </p:cNvPicPr>
          <p:nvPr/>
        </p:nvPicPr>
        <p:blipFill>
          <a:blip r:embed="rId2"/>
          <a:srcRect l="0" t="60660" r="0" b="18483"/>
          <a:stretch/>
        </p:blipFill>
        <p:spPr bwMode="auto">
          <a:xfrm flipH="0" flipV="0">
            <a:off x="6881813" y="7496831"/>
            <a:ext cx="4524375" cy="739008"/>
          </a:xfrm>
          <a:prstGeom prst="rect">
            <a:avLst/>
          </a:prstGeom>
        </p:spPr>
      </p:pic>
      <p:sp>
        <p:nvSpPr>
          <p:cNvPr id="1340047505" name=""/>
          <p:cNvSpPr/>
          <p:nvPr/>
        </p:nvSpPr>
        <p:spPr bwMode="auto">
          <a:xfrm rot="5399999" flipH="0" flipV="0">
            <a:off x="8749862" y="2676853"/>
            <a:ext cx="788275" cy="183931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7954022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924039" y="2688020"/>
            <a:ext cx="4524375" cy="3543300"/>
          </a:xfrm>
          <a:prstGeom prst="rect">
            <a:avLst/>
          </a:prstGeom>
        </p:spPr>
      </p:pic>
      <p:sp>
        <p:nvSpPr>
          <p:cNvPr id="1893472632" name=""/>
          <p:cNvSpPr/>
          <p:nvPr/>
        </p:nvSpPr>
        <p:spPr bwMode="auto">
          <a:xfrm rot="5399999" flipH="0" flipV="0">
            <a:off x="8749863" y="7800920"/>
            <a:ext cx="788275" cy="183931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79848679" name=""/>
          <p:cNvSpPr/>
          <p:nvPr/>
        </p:nvSpPr>
        <p:spPr bwMode="auto">
          <a:xfrm rot="5399999" flipH="0" flipV="0">
            <a:off x="8749863" y="4311868"/>
            <a:ext cx="788275" cy="183931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7179693" name=""/>
          <p:cNvSpPr/>
          <p:nvPr/>
        </p:nvSpPr>
        <p:spPr bwMode="auto">
          <a:xfrm rot="5399999" flipH="0" flipV="0">
            <a:off x="8749863" y="6090087"/>
            <a:ext cx="788275" cy="183931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8626279" name="Group 10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911822269" name="Freeform 11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098231245" name="TextBox 12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sp>
        <p:nvSpPr>
          <p:cNvPr id="1250479826" name="TextBox 15"/>
          <p:cNvSpPr txBox="1"/>
          <p:nvPr/>
        </p:nvSpPr>
        <p:spPr bwMode="auto">
          <a:xfrm rot="0" flipH="0" flipV="0">
            <a:off x="5129250" y="1232022"/>
            <a:ext cx="7827094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시스템 아키텍처 다이어그램</a:t>
            </a:r>
            <a:endParaRPr/>
          </a:p>
        </p:txBody>
      </p:sp>
      <p:sp>
        <p:nvSpPr>
          <p:cNvPr id="2016125008" name="TextBox 16"/>
          <p:cNvSpPr txBox="1"/>
          <p:nvPr/>
        </p:nvSpPr>
        <p:spPr bwMode="auto">
          <a:xfrm rot="0">
            <a:off x="8477971" y="698837"/>
            <a:ext cx="133277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04</a:t>
            </a:r>
            <a:endParaRPr/>
          </a:p>
        </p:txBody>
      </p:sp>
      <p:pic>
        <p:nvPicPr>
          <p:cNvPr id="32046548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924039" y="2688020"/>
            <a:ext cx="4524375" cy="3543300"/>
          </a:xfrm>
          <a:prstGeom prst="rect">
            <a:avLst/>
          </a:prstGeom>
        </p:spPr>
      </p:pic>
      <p:pic>
        <p:nvPicPr>
          <p:cNvPr id="1890952611" name=""/>
          <p:cNvPicPr>
            <a:picLocks noChangeAspect="1"/>
          </p:cNvPicPr>
          <p:nvPr/>
        </p:nvPicPr>
        <p:blipFill>
          <a:blip r:embed="rId3"/>
          <a:srcRect l="0" t="0" r="0" b="43007"/>
          <a:stretch/>
        </p:blipFill>
        <p:spPr bwMode="auto">
          <a:xfrm flipH="0" flipV="0">
            <a:off x="6087559" y="2711011"/>
            <a:ext cx="2538446" cy="5862801"/>
          </a:xfrm>
          <a:prstGeom prst="rect">
            <a:avLst/>
          </a:prstGeom>
        </p:spPr>
      </p:pic>
      <p:pic>
        <p:nvPicPr>
          <p:cNvPr id="1486662021" name=""/>
          <p:cNvPicPr>
            <a:picLocks noChangeAspect="1"/>
          </p:cNvPicPr>
          <p:nvPr/>
        </p:nvPicPr>
        <p:blipFill>
          <a:blip r:embed="rId3"/>
          <a:srcRect l="0" t="56992" r="0" b="0"/>
          <a:stretch/>
        </p:blipFill>
        <p:spPr bwMode="auto">
          <a:xfrm flipH="0" flipV="0">
            <a:off x="9698619" y="4331574"/>
            <a:ext cx="2538446" cy="4424198"/>
          </a:xfrm>
          <a:prstGeom prst="rect">
            <a:avLst/>
          </a:prstGeom>
        </p:spPr>
      </p:pic>
      <p:cxnSp>
        <p:nvCxnSpPr>
          <p:cNvPr id="0" name=""/>
          <p:cNvCxnSpPr>
            <a:cxnSpLocks/>
            <a:stCxn id="1486662021" idx="0"/>
            <a:endCxn id="1890952611" idx="2"/>
          </p:cNvCxnSpPr>
          <p:nvPr/>
        </p:nvCxnSpPr>
        <p:spPr bwMode="auto">
          <a:xfrm rot="16199998" flipH="1" flipV="1">
            <a:off x="7041192" y="4647163"/>
            <a:ext cx="4242238" cy="3611060"/>
          </a:xfrm>
          <a:prstGeom prst="bentConnector5">
            <a:avLst>
              <a:gd name="adj1" fmla="val -5389"/>
              <a:gd name="adj2" fmla="val 50000"/>
              <a:gd name="adj3" fmla="val 105389"/>
            </a:avLst>
          </a:prstGeom>
          <a:ln w="952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3027900" name=""/>
          <p:cNvPicPr>
            <a:picLocks noChangeAspect="1"/>
          </p:cNvPicPr>
          <p:nvPr/>
        </p:nvPicPr>
        <p:blipFill>
          <a:blip r:embed="rId3"/>
          <a:srcRect l="0" t="0" r="0" b="43007"/>
          <a:stretch/>
        </p:blipFill>
        <p:spPr bwMode="auto">
          <a:xfrm flipH="0" flipV="0">
            <a:off x="6087559" y="2688020"/>
            <a:ext cx="2538446" cy="5862801"/>
          </a:xfrm>
          <a:prstGeom prst="rect">
            <a:avLst/>
          </a:prstGeom>
        </p:spPr>
      </p:pic>
      <p:pic>
        <p:nvPicPr>
          <p:cNvPr id="1556657188" name=""/>
          <p:cNvPicPr>
            <a:picLocks noChangeAspect="1"/>
          </p:cNvPicPr>
          <p:nvPr/>
        </p:nvPicPr>
        <p:blipFill>
          <a:blip r:embed="rId3"/>
          <a:srcRect l="0" t="56992" r="0" b="0"/>
          <a:stretch/>
        </p:blipFill>
        <p:spPr bwMode="auto">
          <a:xfrm flipH="0" flipV="0">
            <a:off x="9698619" y="4308583"/>
            <a:ext cx="2538446" cy="4424198"/>
          </a:xfrm>
          <a:prstGeom prst="rect">
            <a:avLst/>
          </a:prstGeom>
        </p:spPr>
      </p:pic>
      <p:cxnSp>
        <p:nvCxnSpPr>
          <p:cNvPr id="1012041189" name=""/>
          <p:cNvCxnSpPr>
            <a:cxnSpLocks/>
          </p:cNvCxnSpPr>
          <p:nvPr/>
        </p:nvCxnSpPr>
        <p:spPr bwMode="auto">
          <a:xfrm rot="16199998" flipH="1" flipV="1">
            <a:off x="7041192" y="4624172"/>
            <a:ext cx="4242238" cy="3611060"/>
          </a:xfrm>
          <a:prstGeom prst="bentConnector5">
            <a:avLst>
              <a:gd name="adj1" fmla="val -5389"/>
              <a:gd name="adj2" fmla="val 50000"/>
              <a:gd name="adj3" fmla="val 105389"/>
            </a:avLst>
          </a:prstGeom>
          <a:ln w="952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EDEDE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sp>
        <p:nvSpPr>
          <p:cNvPr id="6" name="TextBox 6"/>
          <p:cNvSpPr txBox="1"/>
          <p:nvPr/>
        </p:nvSpPr>
        <p:spPr bwMode="auto">
          <a:xfrm rot="0">
            <a:off x="6720986" y="1148013"/>
            <a:ext cx="4860428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인터페이스</a:t>
            </a:r>
            <a:endParaRPr/>
          </a:p>
        </p:txBody>
      </p:sp>
      <p:sp>
        <p:nvSpPr>
          <p:cNvPr id="7" name="TextBox 7"/>
          <p:cNvSpPr txBox="1"/>
          <p:nvPr/>
        </p:nvSpPr>
        <p:spPr bwMode="auto">
          <a:xfrm rot="0">
            <a:off x="8477971" y="698837"/>
            <a:ext cx="1333858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05</a:t>
            </a:r>
            <a:endParaRPr/>
          </a:p>
        </p:txBody>
      </p:sp>
      <p:pic>
        <p:nvPicPr>
          <p:cNvPr id="135200395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504756" y="2167758"/>
            <a:ext cx="5136065" cy="6322629"/>
          </a:xfrm>
          <a:prstGeom prst="rect">
            <a:avLst/>
          </a:prstGeom>
        </p:spPr>
      </p:pic>
      <p:pic>
        <p:nvPicPr>
          <p:cNvPr id="11682291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984017" y="2791810"/>
            <a:ext cx="5217821" cy="5192910"/>
          </a:xfrm>
          <a:prstGeom prst="rect">
            <a:avLst/>
          </a:prstGeom>
        </p:spPr>
      </p:pic>
      <p:pic>
        <p:nvPicPr>
          <p:cNvPr id="79011952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581413" y="3853427"/>
            <a:ext cx="6649562" cy="3069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97722778" name="Group 2"/>
          <p:cNvGrpSpPr/>
          <p:nvPr/>
        </p:nvGrpSpPr>
        <p:grpSpPr bwMode="auto">
          <a:xfrm rot="0">
            <a:off x="659057" y="3108497"/>
            <a:ext cx="5333078" cy="4112159"/>
            <a:chOff x="0" y="0"/>
            <a:chExt cx="1097341" cy="846123"/>
          </a:xfrm>
        </p:grpSpPr>
        <p:sp>
          <p:nvSpPr>
            <p:cNvPr id="933593190" name="Freeform 3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812688706" name="TextBox 4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469266966" name="Group 5"/>
          <p:cNvGrpSpPr/>
          <p:nvPr/>
        </p:nvGrpSpPr>
        <p:grpSpPr bwMode="auto">
          <a:xfrm rot="0">
            <a:off x="6477461" y="3123947"/>
            <a:ext cx="5333078" cy="4112159"/>
            <a:chOff x="0" y="0"/>
            <a:chExt cx="1097341" cy="846123"/>
          </a:xfrm>
        </p:grpSpPr>
        <p:sp>
          <p:nvSpPr>
            <p:cNvPr id="1045250457" name="Freeform 6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982699983" name="TextBox 7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2003962681" name="Group 8"/>
          <p:cNvGrpSpPr/>
          <p:nvPr/>
        </p:nvGrpSpPr>
        <p:grpSpPr bwMode="auto">
          <a:xfrm rot="0">
            <a:off x="12295865" y="3123947"/>
            <a:ext cx="5333078" cy="4112159"/>
            <a:chOff x="0" y="0"/>
            <a:chExt cx="1097341" cy="846123"/>
          </a:xfrm>
        </p:grpSpPr>
        <p:sp>
          <p:nvSpPr>
            <p:cNvPr id="229941437" name="Freeform 9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62906760" name="TextBox 10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174708872" name="Group 11"/>
          <p:cNvGrpSpPr/>
          <p:nvPr/>
        </p:nvGrpSpPr>
        <p:grpSpPr bwMode="auto">
          <a:xfrm rot="0">
            <a:off x="1028700" y="3595385"/>
            <a:ext cx="878444" cy="334807"/>
            <a:chOff x="0" y="0"/>
            <a:chExt cx="180750" cy="68890"/>
          </a:xfrm>
        </p:grpSpPr>
        <p:sp>
          <p:nvSpPr>
            <p:cNvPr id="442224380" name="Freeform 12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880921718" name="TextBox 13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2008014613" name="Group 14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740827832" name="Freeform 15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704598920" name="TextBox 16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grpSp>
        <p:nvGrpSpPr>
          <p:cNvPr id="1762960317" name="Group 17"/>
          <p:cNvGrpSpPr/>
          <p:nvPr/>
        </p:nvGrpSpPr>
        <p:grpSpPr bwMode="auto">
          <a:xfrm rot="0">
            <a:off x="0" y="8245755"/>
            <a:ext cx="18288000" cy="2041245"/>
            <a:chOff x="0" y="0"/>
            <a:chExt cx="3762963" cy="420009"/>
          </a:xfrm>
        </p:grpSpPr>
        <p:sp>
          <p:nvSpPr>
            <p:cNvPr id="607490175" name="Freeform 18"/>
            <p:cNvSpPr/>
            <p:nvPr/>
          </p:nvSpPr>
          <p:spPr bwMode="auto">
            <a:xfrm rot="0" flipH="0" flipV="0">
              <a:off x="0" y="0"/>
              <a:ext cx="3762963" cy="420009"/>
            </a:xfrm>
            <a:custGeom>
              <a:avLst/>
              <a:gdLst/>
              <a:ahLst/>
              <a:cxnLst/>
              <a:rect l="l" t="t" r="r" b="b"/>
              <a:pathLst>
                <a:path w="3762963" h="420009" fill="norm" stroke="1" extrusionOk="0">
                  <a:moveTo>
                    <a:pt x="0" y="0"/>
                  </a:moveTo>
                  <a:lnTo>
                    <a:pt x="3762963" y="0"/>
                  </a:lnTo>
                  <a:lnTo>
                    <a:pt x="3762963" y="420009"/>
                  </a:lnTo>
                  <a:lnTo>
                    <a:pt x="0" y="420009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571259124" name="TextBox 19"/>
            <p:cNvSpPr txBox="1"/>
            <p:nvPr/>
          </p:nvSpPr>
          <p:spPr bwMode="auto">
            <a:xfrm>
              <a:off x="0" y="-38100"/>
              <a:ext cx="3762963" cy="45810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46139646" name="Group 20"/>
          <p:cNvGrpSpPr/>
          <p:nvPr/>
        </p:nvGrpSpPr>
        <p:grpSpPr bwMode="auto">
          <a:xfrm rot="0">
            <a:off x="6842105" y="3595385"/>
            <a:ext cx="878444" cy="334807"/>
            <a:chOff x="0" y="0"/>
            <a:chExt cx="180750" cy="68890"/>
          </a:xfrm>
        </p:grpSpPr>
        <p:sp>
          <p:nvSpPr>
            <p:cNvPr id="1039936893" name="Freeform 21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744634107" name="TextBox 22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34650463" name="Group 23"/>
          <p:cNvGrpSpPr/>
          <p:nvPr/>
        </p:nvGrpSpPr>
        <p:grpSpPr bwMode="auto">
          <a:xfrm rot="0">
            <a:off x="12660509" y="3595385"/>
            <a:ext cx="878444" cy="334807"/>
            <a:chOff x="0" y="0"/>
            <a:chExt cx="180750" cy="68890"/>
          </a:xfrm>
        </p:grpSpPr>
        <p:sp>
          <p:nvSpPr>
            <p:cNvPr id="419048771" name="Freeform 24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977652686" name="TextBox 25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953150818" name="TextBox 26"/>
          <p:cNvSpPr txBox="1"/>
          <p:nvPr/>
        </p:nvSpPr>
        <p:spPr bwMode="auto">
          <a:xfrm rot="0">
            <a:off x="1028700" y="4830842"/>
            <a:ext cx="5150628" cy="152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html의 전진, 후진, 좌우 이동 및 긴급 정지 버튼을 통해 이동은 큰 난향이 없었으나, ‘음성입력’ 버튼을 누른 뒤 음성 제어를 하려 했으나 html에서 터틀봇으로 전달이 어려워 LLM 모델을 이용하여 해결하였습니다.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55901799" name="TextBox 27"/>
          <p:cNvSpPr txBox="1"/>
          <p:nvPr/>
        </p:nvSpPr>
        <p:spPr bwMode="auto">
          <a:xfrm rot="0" flipH="0" flipV="0">
            <a:off x="1028699" y="4116449"/>
            <a:ext cx="421496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음성 인식 제어</a:t>
            </a:r>
            <a:endParaRPr/>
          </a:p>
        </p:txBody>
      </p:sp>
      <p:sp>
        <p:nvSpPr>
          <p:cNvPr id="1150516140" name="TextBox 28"/>
          <p:cNvSpPr txBox="1"/>
          <p:nvPr/>
        </p:nvSpPr>
        <p:spPr bwMode="auto">
          <a:xfrm rot="0">
            <a:off x="1205017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첫번째</a:t>
            </a:r>
            <a:endParaRPr/>
          </a:p>
        </p:txBody>
      </p:sp>
      <p:sp>
        <p:nvSpPr>
          <p:cNvPr id="915255972" name="TextBox 29"/>
          <p:cNvSpPr txBox="1"/>
          <p:nvPr/>
        </p:nvSpPr>
        <p:spPr bwMode="auto">
          <a:xfrm rot="0">
            <a:off x="6720986" y="1149911"/>
            <a:ext cx="4888146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문제 해결</a:t>
            </a:r>
            <a:endParaRPr/>
          </a:p>
        </p:txBody>
      </p:sp>
      <p:sp>
        <p:nvSpPr>
          <p:cNvPr id="1218155650" name="TextBox 30"/>
          <p:cNvSpPr txBox="1"/>
          <p:nvPr/>
        </p:nvSpPr>
        <p:spPr bwMode="auto">
          <a:xfrm rot="0">
            <a:off x="8477971" y="698837"/>
            <a:ext cx="133277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06</a:t>
            </a:r>
            <a:endParaRPr/>
          </a:p>
        </p:txBody>
      </p:sp>
      <p:sp>
        <p:nvSpPr>
          <p:cNvPr id="1645854282" name="TextBox 32"/>
          <p:cNvSpPr txBox="1"/>
          <p:nvPr/>
        </p:nvSpPr>
        <p:spPr bwMode="auto">
          <a:xfrm rot="0">
            <a:off x="6842105" y="4830842"/>
            <a:ext cx="4831309" cy="114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20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네트워크가 불안정하여 코드가 정상적으로 작동해야하는데 어느순간 안되어 테스트 중에는 모바일 핫스팟을 이용하여 해결하였습니다.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91896281" name="TextBox 33"/>
          <p:cNvSpPr txBox="1"/>
          <p:nvPr/>
        </p:nvSpPr>
        <p:spPr bwMode="auto">
          <a:xfrm rot="0" flipH="0" flipV="0">
            <a:off x="6842105" y="4116449"/>
            <a:ext cx="4942714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네트워크 불안정</a:t>
            </a:r>
            <a:endParaRPr/>
          </a:p>
        </p:txBody>
      </p:sp>
      <p:sp>
        <p:nvSpPr>
          <p:cNvPr id="952062966" name="TextBox 34"/>
          <p:cNvSpPr txBox="1"/>
          <p:nvPr/>
        </p:nvSpPr>
        <p:spPr bwMode="auto">
          <a:xfrm rot="0">
            <a:off x="7018422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두번째</a:t>
            </a:r>
            <a:endParaRPr/>
          </a:p>
        </p:txBody>
      </p:sp>
      <p:sp>
        <p:nvSpPr>
          <p:cNvPr id="2102062879" name="TextBox 35"/>
          <p:cNvSpPr txBox="1"/>
          <p:nvPr/>
        </p:nvSpPr>
        <p:spPr bwMode="auto">
          <a:xfrm rot="0">
            <a:off x="12660509" y="4830842"/>
            <a:ext cx="4852189" cy="152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버튼으로 인한 제어는 통신 지연이 적었으나 음성으로 인한 제어는 STT를 거쳐 단어를 판별까지 하여야해서 지연시간이 버튼으로 인해 조작하는 것 대비 2~3배 정도 더 걸렸습니다.</a:t>
            </a:r>
            <a:endParaRPr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1820188920" name="TextBox 36"/>
          <p:cNvSpPr txBox="1"/>
          <p:nvPr/>
        </p:nvSpPr>
        <p:spPr bwMode="auto">
          <a:xfrm rot="0" flipH="0" flipV="0">
            <a:off x="12660509" y="4116449"/>
            <a:ext cx="4973888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ROS2 통신 지연</a:t>
            </a:r>
            <a:endParaRPr/>
          </a:p>
        </p:txBody>
      </p:sp>
      <p:sp>
        <p:nvSpPr>
          <p:cNvPr id="418100467" name="TextBox 37"/>
          <p:cNvSpPr txBox="1"/>
          <p:nvPr/>
        </p:nvSpPr>
        <p:spPr bwMode="auto">
          <a:xfrm rot="0">
            <a:off x="12836826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세번째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11944457" name="Group 2"/>
          <p:cNvGrpSpPr/>
          <p:nvPr/>
        </p:nvGrpSpPr>
        <p:grpSpPr bwMode="auto">
          <a:xfrm rot="0">
            <a:off x="659057" y="3108497"/>
            <a:ext cx="5333078" cy="4112159"/>
            <a:chOff x="0" y="0"/>
            <a:chExt cx="1097341" cy="846123"/>
          </a:xfrm>
        </p:grpSpPr>
        <p:sp>
          <p:nvSpPr>
            <p:cNvPr id="493812265" name="Freeform 3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895946019" name="TextBox 4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088927728" name="Group 5"/>
          <p:cNvGrpSpPr/>
          <p:nvPr/>
        </p:nvGrpSpPr>
        <p:grpSpPr bwMode="auto">
          <a:xfrm rot="0">
            <a:off x="6477461" y="3123947"/>
            <a:ext cx="5333078" cy="4112159"/>
            <a:chOff x="0" y="0"/>
            <a:chExt cx="1097341" cy="846123"/>
          </a:xfrm>
        </p:grpSpPr>
        <p:sp>
          <p:nvSpPr>
            <p:cNvPr id="957135041" name="Freeform 6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975266158" name="TextBox 7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571900613" name="Group 8"/>
          <p:cNvGrpSpPr/>
          <p:nvPr/>
        </p:nvGrpSpPr>
        <p:grpSpPr bwMode="auto">
          <a:xfrm rot="0">
            <a:off x="12295865" y="3123947"/>
            <a:ext cx="5333078" cy="4112159"/>
            <a:chOff x="0" y="0"/>
            <a:chExt cx="1097341" cy="846123"/>
          </a:xfrm>
        </p:grpSpPr>
        <p:sp>
          <p:nvSpPr>
            <p:cNvPr id="1085955889" name="Freeform 9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374532596" name="TextBox 10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407399893" name="Group 11"/>
          <p:cNvGrpSpPr/>
          <p:nvPr/>
        </p:nvGrpSpPr>
        <p:grpSpPr bwMode="auto">
          <a:xfrm rot="0">
            <a:off x="1028700" y="3595385"/>
            <a:ext cx="878444" cy="334807"/>
            <a:chOff x="0" y="0"/>
            <a:chExt cx="180750" cy="68890"/>
          </a:xfrm>
        </p:grpSpPr>
        <p:sp>
          <p:nvSpPr>
            <p:cNvPr id="1853734588" name="Freeform 12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714839071" name="TextBox 13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475764054" name="Group 14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1524606558" name="Freeform 15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818177792" name="TextBox 16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grpSp>
        <p:nvGrpSpPr>
          <p:cNvPr id="917198176" name="Group 17"/>
          <p:cNvGrpSpPr/>
          <p:nvPr/>
        </p:nvGrpSpPr>
        <p:grpSpPr bwMode="auto">
          <a:xfrm rot="0">
            <a:off x="0" y="8245755"/>
            <a:ext cx="18288000" cy="2041245"/>
            <a:chOff x="0" y="0"/>
            <a:chExt cx="3762963" cy="420009"/>
          </a:xfrm>
        </p:grpSpPr>
        <p:sp>
          <p:nvSpPr>
            <p:cNvPr id="1491838624" name="Freeform 18"/>
            <p:cNvSpPr/>
            <p:nvPr/>
          </p:nvSpPr>
          <p:spPr bwMode="auto">
            <a:xfrm rot="0" flipH="0" flipV="0">
              <a:off x="0" y="0"/>
              <a:ext cx="3762963" cy="420009"/>
            </a:xfrm>
            <a:custGeom>
              <a:avLst/>
              <a:gdLst/>
              <a:ahLst/>
              <a:cxnLst/>
              <a:rect l="l" t="t" r="r" b="b"/>
              <a:pathLst>
                <a:path w="3762963" h="420009" fill="norm" stroke="1" extrusionOk="0">
                  <a:moveTo>
                    <a:pt x="0" y="0"/>
                  </a:moveTo>
                  <a:lnTo>
                    <a:pt x="3762963" y="0"/>
                  </a:lnTo>
                  <a:lnTo>
                    <a:pt x="3762963" y="420009"/>
                  </a:lnTo>
                  <a:lnTo>
                    <a:pt x="0" y="420009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063356358" name="TextBox 19"/>
            <p:cNvSpPr txBox="1"/>
            <p:nvPr/>
          </p:nvSpPr>
          <p:spPr bwMode="auto">
            <a:xfrm>
              <a:off x="0" y="-38100"/>
              <a:ext cx="3762963" cy="45810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2144984698" name="Group 20"/>
          <p:cNvGrpSpPr/>
          <p:nvPr/>
        </p:nvGrpSpPr>
        <p:grpSpPr bwMode="auto">
          <a:xfrm rot="0">
            <a:off x="6842105" y="3595385"/>
            <a:ext cx="878444" cy="334807"/>
            <a:chOff x="0" y="0"/>
            <a:chExt cx="180750" cy="68890"/>
          </a:xfrm>
        </p:grpSpPr>
        <p:sp>
          <p:nvSpPr>
            <p:cNvPr id="1716746261" name="Freeform 21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640450023" name="TextBox 22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158015442" name="Group 23"/>
          <p:cNvGrpSpPr/>
          <p:nvPr/>
        </p:nvGrpSpPr>
        <p:grpSpPr bwMode="auto">
          <a:xfrm rot="0">
            <a:off x="12660509" y="3595385"/>
            <a:ext cx="878444" cy="334807"/>
            <a:chOff x="0" y="0"/>
            <a:chExt cx="180750" cy="68890"/>
          </a:xfrm>
        </p:grpSpPr>
        <p:sp>
          <p:nvSpPr>
            <p:cNvPr id="8438732" name="Freeform 24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765054663" name="TextBox 25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823260876" name="TextBox 26"/>
          <p:cNvSpPr txBox="1"/>
          <p:nvPr/>
        </p:nvSpPr>
        <p:spPr bwMode="auto">
          <a:xfrm rot="0" flipH="0" flipV="0">
            <a:off x="1028700" y="4830842"/>
            <a:ext cx="4821520" cy="114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라즈베리 파이 4 환경에서 Whisper.cpp를 활용해 외부 비용과 네트워크 의존성 없는 로컬 STT 시스템을 검증했습니다.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1617976697" name="TextBox 27"/>
          <p:cNvSpPr txBox="1"/>
          <p:nvPr/>
        </p:nvSpPr>
        <p:spPr bwMode="auto">
          <a:xfrm rot="0" flipH="0" flipV="0">
            <a:off x="1028698" y="4116449"/>
            <a:ext cx="4820801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26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임베디드 AI 경량화와 자원 최적화</a:t>
            </a:r>
            <a:endParaRPr sz="2600"/>
          </a:p>
        </p:txBody>
      </p:sp>
      <p:sp>
        <p:nvSpPr>
          <p:cNvPr id="1895888742" name="TextBox 28"/>
          <p:cNvSpPr txBox="1"/>
          <p:nvPr/>
        </p:nvSpPr>
        <p:spPr bwMode="auto">
          <a:xfrm rot="0">
            <a:off x="1205017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첫번째</a:t>
            </a:r>
            <a:endParaRPr/>
          </a:p>
        </p:txBody>
      </p:sp>
      <p:sp>
        <p:nvSpPr>
          <p:cNvPr id="1956317240" name="TextBox 29"/>
          <p:cNvSpPr txBox="1"/>
          <p:nvPr/>
        </p:nvSpPr>
        <p:spPr bwMode="auto">
          <a:xfrm rot="0">
            <a:off x="6691647" y="1149911"/>
            <a:ext cx="4905425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고찰</a:t>
            </a:r>
            <a:endParaRPr/>
          </a:p>
        </p:txBody>
      </p:sp>
      <p:sp>
        <p:nvSpPr>
          <p:cNvPr id="1305936943" name="TextBox 30"/>
          <p:cNvSpPr txBox="1"/>
          <p:nvPr/>
        </p:nvSpPr>
        <p:spPr bwMode="auto">
          <a:xfrm rot="0">
            <a:off x="8477971" y="698837"/>
            <a:ext cx="1333138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07</a:t>
            </a:r>
            <a:endParaRPr/>
          </a:p>
        </p:txBody>
      </p:sp>
      <p:sp>
        <p:nvSpPr>
          <p:cNvPr id="614262638" name="TextBox 32"/>
          <p:cNvSpPr txBox="1"/>
          <p:nvPr/>
        </p:nvSpPr>
        <p:spPr bwMode="auto">
          <a:xfrm rot="0">
            <a:off x="6842105" y="4830842"/>
            <a:ext cx="4835268" cy="1905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20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알고리즘 거치며 발생하는 미세한 연산 지연을 확인하였으며, </a:t>
            </a:r>
            <a:endParaRPr lang="en-US" sz="2000" b="0" i="0" u="none" strike="noStrike" cap="none" spc="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ts val="3000"/>
              </a:lnSpc>
              <a:defRPr/>
            </a:pPr>
            <a:r>
              <a:rPr lang="en-US" sz="20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하이엔드 산업용 로봇에 적용하기 위해서는 프로토콜 최적화가 병행되어야 함을 깨달았습니다.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30134728" name="TextBox 33"/>
          <p:cNvSpPr txBox="1"/>
          <p:nvPr/>
        </p:nvSpPr>
        <p:spPr bwMode="auto">
          <a:xfrm rot="0" flipH="0" flipV="0">
            <a:off x="6842105" y="4116449"/>
            <a:ext cx="4943433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26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이기종 통신 및 실시간 제어 성능</a:t>
            </a:r>
            <a:endParaRPr sz="2600"/>
          </a:p>
        </p:txBody>
      </p:sp>
      <p:sp>
        <p:nvSpPr>
          <p:cNvPr id="1135553062" name="TextBox 34"/>
          <p:cNvSpPr txBox="1"/>
          <p:nvPr/>
        </p:nvSpPr>
        <p:spPr bwMode="auto">
          <a:xfrm rot="0">
            <a:off x="7018422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두번째</a:t>
            </a:r>
            <a:endParaRPr/>
          </a:p>
        </p:txBody>
      </p:sp>
      <p:sp>
        <p:nvSpPr>
          <p:cNvPr id="1535753461" name="TextBox 35"/>
          <p:cNvSpPr txBox="1"/>
          <p:nvPr/>
        </p:nvSpPr>
        <p:spPr bwMode="auto">
          <a:xfrm rot="0">
            <a:off x="12660509" y="4830842"/>
            <a:ext cx="4852909" cy="152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손을 쓰지 않는 음성 제어의 높은 직관성을 확인했으나, </a:t>
            </a:r>
            <a:endParaRPr lang="en-US" sz="1800" b="0" i="0" u="none" strike="noStrike" cap="none" spc="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긴급 상황 시 음성 처리 속도가 물리적 제어보다 느릴 수 있다는 내재적 위험을 인지했습니다.</a:t>
            </a:r>
            <a:endParaRPr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62630024" name="TextBox 36"/>
          <p:cNvSpPr txBox="1"/>
          <p:nvPr/>
        </p:nvSpPr>
        <p:spPr bwMode="auto">
          <a:xfrm rot="0" flipH="0" flipV="0">
            <a:off x="12660509" y="4116449"/>
            <a:ext cx="4974607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26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음성 HMI의 안전성 및 예외 처리</a:t>
            </a:r>
            <a:endParaRPr sz="2600"/>
          </a:p>
        </p:txBody>
      </p:sp>
      <p:sp>
        <p:nvSpPr>
          <p:cNvPr id="225095276" name="TextBox 37"/>
          <p:cNvSpPr txBox="1"/>
          <p:nvPr/>
        </p:nvSpPr>
        <p:spPr bwMode="auto">
          <a:xfrm rot="0">
            <a:off x="12836826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세번째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EDEDE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" name="Group 17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18" name="Freeform 18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9" name="TextBox 19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sp>
        <p:nvSpPr>
          <p:cNvPr id="27" name="TextBox 27"/>
          <p:cNvSpPr txBox="1"/>
          <p:nvPr/>
        </p:nvSpPr>
        <p:spPr bwMode="auto">
          <a:xfrm rot="0">
            <a:off x="6720986" y="1149911"/>
            <a:ext cx="4871587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시연 영상</a:t>
            </a:r>
            <a:endParaRPr/>
          </a:p>
        </p:txBody>
      </p:sp>
      <p:sp>
        <p:nvSpPr>
          <p:cNvPr id="28" name="TextBox 28"/>
          <p:cNvSpPr txBox="1"/>
          <p:nvPr/>
        </p:nvSpPr>
        <p:spPr bwMode="auto">
          <a:xfrm rot="0">
            <a:off x="8477971" y="698837"/>
            <a:ext cx="133277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sp>
        <p:nvSpPr>
          <p:cNvPr id="21" name="TextBox 21"/>
          <p:cNvSpPr txBox="1"/>
          <p:nvPr/>
        </p:nvSpPr>
        <p:spPr bwMode="auto">
          <a:xfrm rot="0">
            <a:off x="6720986" y="1148013"/>
            <a:ext cx="4847828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Q &amp; A</a:t>
            </a:r>
            <a:endParaRPr/>
          </a:p>
        </p:txBody>
      </p:sp>
      <p:sp>
        <p:nvSpPr>
          <p:cNvPr id="22" name="TextBox 22"/>
          <p:cNvSpPr txBox="1"/>
          <p:nvPr/>
        </p:nvSpPr>
        <p:spPr bwMode="auto">
          <a:xfrm rot="0">
            <a:off x="8477971" y="698837"/>
            <a:ext cx="133241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09</a:t>
            </a:r>
            <a:endParaRPr/>
          </a:p>
        </p:txBody>
      </p:sp>
      <p:pic>
        <p:nvPicPr>
          <p:cNvPr id="204230323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5725674" y="3317327"/>
            <a:ext cx="6969830" cy="6969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EDEDE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 rot="0">
            <a:off x="4850842" y="4999825"/>
            <a:ext cx="8586316" cy="678447"/>
            <a:chOff x="0" y="0"/>
            <a:chExt cx="1013522" cy="8008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1013522" cy="80083"/>
            </a:xfrm>
            <a:custGeom>
              <a:avLst/>
              <a:gdLst/>
              <a:ahLst/>
              <a:cxnLst/>
              <a:rect l="l" t="t" r="r" b="b"/>
              <a:pathLst>
                <a:path w="1013522" h="80083" fill="norm" stroke="1" extrusionOk="0">
                  <a:moveTo>
                    <a:pt x="0" y="0"/>
                  </a:moveTo>
                  <a:lnTo>
                    <a:pt x="1013522" y="0"/>
                  </a:lnTo>
                  <a:lnTo>
                    <a:pt x="1013522" y="80083"/>
                  </a:lnTo>
                  <a:lnTo>
                    <a:pt x="0" y="8008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-38100"/>
              <a:ext cx="1013522" cy="1181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 bwMode="auto">
          <a:xfrm rot="0">
            <a:off x="6597212" y="4160842"/>
            <a:ext cx="5257800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8"/>
              </a:lnSpc>
              <a:defRPr/>
            </a:pPr>
            <a:r>
              <a:rPr lang="en-US" sz="9000">
                <a:solidFill>
                  <a:srgbClr val="272626"/>
                </a:solidFill>
                <a:latin typeface="Noto Sans Kr Light"/>
                <a:ea typeface="Noto Sans Kr Light"/>
                <a:cs typeface="Noto Sans Kr Light"/>
              </a:rPr>
              <a:t>감사합니다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onlyoffice/7.3.3.49</Application>
  <DocSecurity>0</DocSecurity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검정색 단순한 프레젠테이션 발표</dc:title>
  <dc:subject/>
  <dc:creator/>
  <cp:keywords/>
  <dc:description/>
  <dc:identifier>DAHOwNNgdE8</dc:identifier>
  <dc:language/>
  <cp:lastModifiedBy>Guset_925</cp:lastModifiedBy>
  <cp:revision>10</cp:revision>
  <dcterms:created xsi:type="dcterms:W3CDTF">2006-08-16T00:00:00Z</dcterms:created>
  <dcterms:modified xsi:type="dcterms:W3CDTF">2026-07-08T02:58:12Z</dcterms:modified>
  <cp:category/>
  <cp:contentStatus/>
  <cp:version/>
</cp:coreProperties>
</file>