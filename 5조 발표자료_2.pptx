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18288000" cy="10287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361" orient="horz"/>
        <p:guide pos="284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drive/folders/19Hw-eozOCE5qupkH6PRV259tjLsn-rKD?usp=drive_link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  <a:alpha val="97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01120" name=""/>
          <p:cNvSpPr/>
          <p:nvPr/>
        </p:nvSpPr>
        <p:spPr bwMode="auto">
          <a:xfrm rot="0" flipH="1" flipV="0">
            <a:off x="13209625" y="1365249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 bwMode="auto">
          <a:xfrm rot="0" flipH="0" flipV="0">
            <a:off x="14635926" y="-9704"/>
            <a:ext cx="3654278" cy="44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 b="1" i="0" u="none" strike="noStrike" cap="none" spc="0">
                <a:solidFill>
                  <a:srgbClr val="272626"/>
                </a:solidFill>
                <a:latin typeface="NanumBarunGothic"/>
                <a:ea typeface="NanumBarunGothic"/>
                <a:cs typeface="NanumBarunGothic"/>
              </a:rPr>
              <a:t>AX 로보틱스 부트캠프</a:t>
            </a:r>
            <a:endParaRPr>
              <a:latin typeface="NanumBarunGothic"/>
              <a:cs typeface="NanumBarunGothic"/>
            </a:endParaRPr>
          </a:p>
        </p:txBody>
      </p:sp>
      <p:sp>
        <p:nvSpPr>
          <p:cNvPr id="8" name="TextBox 8"/>
          <p:cNvSpPr txBox="1"/>
          <p:nvPr/>
        </p:nvSpPr>
        <p:spPr bwMode="auto">
          <a:xfrm rot="0" flipH="0" flipV="0">
            <a:off x="13884907" y="9380093"/>
            <a:ext cx="6246042" cy="71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장 : 김민성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원 :권재현, 권주원, 박상욱, 김동혁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</p:txBody>
      </p:sp>
      <p:sp>
        <p:nvSpPr>
          <p:cNvPr id="1053762667" name="TextBox 5"/>
          <p:cNvSpPr txBox="1"/>
          <p:nvPr/>
        </p:nvSpPr>
        <p:spPr bwMode="auto">
          <a:xfrm rot="0" flipH="0" flipV="0">
            <a:off x="2098659" y="3396290"/>
            <a:ext cx="13824248" cy="297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AI 음성 명령 기반 </a:t>
            </a:r>
            <a:endParaRPr sz="9000" b="1" i="0" u="none" strike="noStrike" cap="none" spc="0"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latin typeface="Noto Sans Kr Bold"/>
              <a:cs typeface="Noto Sans Kr Bold"/>
            </a:endParaRPr>
          </a:p>
          <a:p>
            <a:pPr algn="ctr">
              <a:lnSpc>
                <a:spcPts val="12598"/>
              </a:lnSpc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터틀봇 제어 시스템</a:t>
            </a:r>
            <a:endParaRPr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03943608" name=""/>
          <p:cNvSpPr/>
          <p:nvPr/>
        </p:nvSpPr>
        <p:spPr bwMode="auto">
          <a:xfrm rot="10799999" flipH="1" flipV="0">
            <a:off x="-20599" y="-9704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6876854" name="TextBox 6"/>
          <p:cNvSpPr txBox="1"/>
          <p:nvPr/>
        </p:nvSpPr>
        <p:spPr bwMode="auto">
          <a:xfrm rot="0" flipH="0" flipV="0">
            <a:off x="6784397" y="6675592"/>
            <a:ext cx="3676238" cy="71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5 조</a:t>
            </a:r>
            <a:endParaRPr sz="2000" b="1" i="0" u="none" strike="noStrike" cap="none" spc="0">
              <a:solidFill>
                <a:srgbClr val="272626"/>
              </a:solidFill>
              <a:latin typeface="Noto Sans Kr Bold"/>
              <a:ea typeface="Noto Sans Kr Bold"/>
              <a:cs typeface="Noto Sans Kr Bold"/>
            </a:endParaRPr>
          </a:p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말해봇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542144" name=""/>
          <p:cNvSpPr/>
          <p:nvPr/>
        </p:nvSpPr>
        <p:spPr bwMode="auto">
          <a:xfrm rot="0" flipH="1" flipV="0">
            <a:off x="13209625" y="1365249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954399" name=""/>
          <p:cNvSpPr/>
          <p:nvPr/>
        </p:nvSpPr>
        <p:spPr bwMode="auto">
          <a:xfrm rot="10799999" flipH="1" flipV="0">
            <a:off x="-20599" y="-9704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" name="Group 2"/>
          <p:cNvGrpSpPr/>
          <p:nvPr/>
        </p:nvGrpSpPr>
        <p:grpSpPr bwMode="auto">
          <a:xfrm rot="0">
            <a:off x="1790839" y="3893553"/>
            <a:ext cx="7043266" cy="399554"/>
            <a:chOff x="0" y="0"/>
            <a:chExt cx="831382" cy="4716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1790839" y="4807953"/>
            <a:ext cx="7043266" cy="399554"/>
            <a:chOff x="0" y="0"/>
            <a:chExt cx="831382" cy="4716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790839" y="5718929"/>
            <a:ext cx="7043266" cy="399554"/>
            <a:chOff x="0" y="0"/>
            <a:chExt cx="831382" cy="4716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1974989" y="3620255"/>
            <a:ext cx="48625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12" name="TextBox 12"/>
          <p:cNvSpPr txBox="1"/>
          <p:nvPr/>
        </p:nvSpPr>
        <p:spPr bwMode="auto">
          <a:xfrm rot="0">
            <a:off x="1974989" y="1292225"/>
            <a:ext cx="1596332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목차</a:t>
            </a:r>
            <a:endParaRPr/>
          </a:p>
        </p:txBody>
      </p:sp>
      <p:sp>
        <p:nvSpPr>
          <p:cNvPr id="13" name="TextBox 13"/>
          <p:cNvSpPr txBox="1"/>
          <p:nvPr/>
        </p:nvSpPr>
        <p:spPr bwMode="auto">
          <a:xfrm rot="0">
            <a:off x="1974989" y="4534655"/>
            <a:ext cx="48589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14" name="TextBox 14"/>
          <p:cNvSpPr txBox="1"/>
          <p:nvPr/>
        </p:nvSpPr>
        <p:spPr bwMode="auto">
          <a:xfrm rot="0">
            <a:off x="1974989" y="5445632"/>
            <a:ext cx="48705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아키텍처 흐름</a:t>
            </a:r>
            <a:endParaRPr/>
          </a:p>
        </p:txBody>
      </p:sp>
      <p:sp>
        <p:nvSpPr>
          <p:cNvPr id="15" name="TextBox 15"/>
          <p:cNvSpPr txBox="1"/>
          <p:nvPr/>
        </p:nvSpPr>
        <p:spPr bwMode="auto">
          <a:xfrm rot="0">
            <a:off x="9030476" y="39044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01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9030476" y="48188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02</a:t>
            </a:r>
            <a:endParaRPr/>
          </a:p>
        </p:txBody>
      </p:sp>
      <p:sp>
        <p:nvSpPr>
          <p:cNvPr id="17" name="TextBox 17"/>
          <p:cNvSpPr txBox="1"/>
          <p:nvPr/>
        </p:nvSpPr>
        <p:spPr bwMode="auto">
          <a:xfrm rot="0" flipH="0" flipV="0">
            <a:off x="9030476" y="5729793"/>
            <a:ext cx="1827140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03 ~ 04</a:t>
            </a:r>
            <a:endParaRPr/>
          </a:p>
        </p:txBody>
      </p:sp>
      <p:grpSp>
        <p:nvGrpSpPr>
          <p:cNvPr id="18" name="Group 18"/>
          <p:cNvGrpSpPr/>
          <p:nvPr/>
        </p:nvGrpSpPr>
        <p:grpSpPr bwMode="auto">
          <a:xfrm rot="0">
            <a:off x="1790839" y="6629907"/>
            <a:ext cx="7043266" cy="399554"/>
            <a:chOff x="0" y="0"/>
            <a:chExt cx="831382" cy="47163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 flipH="0" flipV="0">
            <a:off x="1974989" y="6356609"/>
            <a:ext cx="681119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 및 작동 방식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9030476" y="6640771"/>
            <a:ext cx="57918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05</a:t>
            </a:r>
            <a:endParaRPr/>
          </a:p>
        </p:txBody>
      </p:sp>
      <p:grpSp>
        <p:nvGrpSpPr>
          <p:cNvPr id="23" name="Group 23"/>
          <p:cNvGrpSpPr/>
          <p:nvPr/>
        </p:nvGrpSpPr>
        <p:grpSpPr bwMode="auto">
          <a:xfrm rot="0">
            <a:off x="1790839" y="7540884"/>
            <a:ext cx="7043266" cy="399554"/>
            <a:chOff x="0" y="0"/>
            <a:chExt cx="831382" cy="47163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974989" y="7267586"/>
            <a:ext cx="58899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 및 </a:t>
            </a: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9030476" y="7551747"/>
            <a:ext cx="1942097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06~07</a:t>
            </a:r>
            <a:endParaRPr/>
          </a:p>
        </p:txBody>
      </p:sp>
      <p:grpSp>
        <p:nvGrpSpPr>
          <p:cNvPr id="1826105215" name="Group 23"/>
          <p:cNvGrpSpPr/>
          <p:nvPr/>
        </p:nvGrpSpPr>
        <p:grpSpPr bwMode="auto">
          <a:xfrm rot="0">
            <a:off x="1789759" y="8420993"/>
            <a:ext cx="7043266" cy="399554"/>
            <a:chOff x="0" y="0"/>
            <a:chExt cx="831382" cy="47163"/>
          </a:xfrm>
        </p:grpSpPr>
        <p:sp>
          <p:nvSpPr>
            <p:cNvPr id="1955113060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5814887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064429694" name="TextBox 26"/>
          <p:cNvSpPr txBox="1"/>
          <p:nvPr/>
        </p:nvSpPr>
        <p:spPr bwMode="auto">
          <a:xfrm rot="0">
            <a:off x="1973909" y="8147695"/>
            <a:ext cx="5875509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 및 Q&amp;A</a:t>
            </a:r>
            <a:endParaRPr/>
          </a:p>
        </p:txBody>
      </p:sp>
      <p:sp>
        <p:nvSpPr>
          <p:cNvPr id="1369282412" name="TextBox 27"/>
          <p:cNvSpPr txBox="1"/>
          <p:nvPr/>
        </p:nvSpPr>
        <p:spPr bwMode="auto">
          <a:xfrm rot="0" flipH="0" flipV="0">
            <a:off x="9029396" y="8431857"/>
            <a:ext cx="406310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08</a:t>
            </a:r>
            <a:r>
              <a:rPr/>
              <a:t>~09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7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028700" y="4830842"/>
            <a:ext cx="4730149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기존의 복잡한 조이스틱이나 터미널 기반 제어에서 벗어나, 여러 LLM(대규모 언어 모델)의 고도화된 음성 인식 기술을 통해 인간의 일상적인 자연어로 로봇을 구동하는 새로운 패러다임을 제시합니다.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1028699" y="4116449"/>
            <a:ext cx="41807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생성형 AI 기술의 진화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9" name="TextBox 29"/>
          <p:cNvSpPr txBox="1"/>
          <p:nvPr/>
        </p:nvSpPr>
        <p:spPr bwMode="auto">
          <a:xfrm rot="0">
            <a:off x="6720986" y="1149911"/>
            <a:ext cx="486258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30" name="TextBox 30"/>
          <p:cNvSpPr txBox="1"/>
          <p:nvPr/>
        </p:nvSpPr>
        <p:spPr bwMode="auto">
          <a:xfrm rot="0">
            <a:off x="8477971" y="698837"/>
            <a:ext cx="133205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01</a:t>
            </a:r>
            <a:endParaRPr/>
          </a:p>
        </p:txBody>
      </p:sp>
      <p:sp>
        <p:nvSpPr>
          <p:cNvPr id="32" name="TextBox 32"/>
          <p:cNvSpPr txBox="1"/>
          <p:nvPr/>
        </p:nvSpPr>
        <p:spPr bwMode="auto">
          <a:xfrm rot="0">
            <a:off x="6842105" y="4830842"/>
            <a:ext cx="4605950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별도의 컨트롤러나 전용 장비 없이, 누구나 보유한 스마트폰의 웹 브라우저를 활용하여 공간의 제약 없이 언제 어디서나 접근 가능한 직관적인 인터페이스를 제공합니다.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3"/>
          <p:cNvSpPr txBox="1"/>
          <p:nvPr/>
        </p:nvSpPr>
        <p:spPr bwMode="auto">
          <a:xfrm rot="0" flipH="0" flipV="0">
            <a:off x="6842105" y="4116449"/>
            <a:ext cx="4901677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 사용자 친화적 모바일 제어</a:t>
            </a:r>
            <a:endParaRPr/>
          </a:p>
        </p:txBody>
      </p:sp>
      <p:sp>
        <p:nvSpPr>
          <p:cNvPr id="34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35" name="TextBox 35"/>
          <p:cNvSpPr txBox="1"/>
          <p:nvPr/>
        </p:nvSpPr>
        <p:spPr bwMode="auto">
          <a:xfrm rot="0">
            <a:off x="12660509" y="4830842"/>
            <a:ext cx="4604870" cy="1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프론트엔드(Web/Mobile), 백엔드 서버(FastAPI), 인공지능(STT), 그리고 로봇 미들웨어(ROS2)를 지연 없는 단일 파이프라인으로 연결하여 최신 기술 간의 강력한 시너지 모델을 구축합니다.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36" name="TextBox 36"/>
          <p:cNvSpPr txBox="1"/>
          <p:nvPr/>
        </p:nvSpPr>
        <p:spPr bwMode="auto">
          <a:xfrm rot="0" flipH="0" flipV="0">
            <a:off x="12660509" y="4116449"/>
            <a:ext cx="493357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IT-로보틱스 융합 시스템 구축</a:t>
            </a:r>
            <a:endParaRPr/>
          </a:p>
        </p:txBody>
      </p:sp>
      <p:sp>
        <p:nvSpPr>
          <p:cNvPr id="37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79549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3979307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56204202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614664183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1665448798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092161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751385577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716059784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74135132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539333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748812763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5098908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682204972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631737944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32515918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285965260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26115124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74779584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228332767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375057030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805930679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23727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339711099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541777762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50226182" name="TextBox 26"/>
          <p:cNvSpPr txBox="1"/>
          <p:nvPr/>
        </p:nvSpPr>
        <p:spPr bwMode="auto">
          <a:xfrm rot="0">
            <a:off x="1028700" y="4830842"/>
            <a:ext cx="4730509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AI를 활용하여 인간의 일상적인 음성 명령을 로봇이 이해할 수 있는 데이터로 변환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773927624" name="TextBox 27"/>
          <p:cNvSpPr txBox="1"/>
          <p:nvPr/>
        </p:nvSpPr>
        <p:spPr bwMode="auto">
          <a:xfrm rot="0" flipH="0" flipV="0">
            <a:off x="1028699" y="4116449"/>
            <a:ext cx="41958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자연어 해석</a:t>
            </a:r>
            <a:endParaRPr/>
          </a:p>
        </p:txBody>
      </p:sp>
      <p:sp>
        <p:nvSpPr>
          <p:cNvPr id="158335420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108516655" name="TextBox 29"/>
          <p:cNvSpPr txBox="1"/>
          <p:nvPr/>
        </p:nvSpPr>
        <p:spPr bwMode="auto">
          <a:xfrm rot="0">
            <a:off x="6720986" y="1149911"/>
            <a:ext cx="487554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564013280" name="TextBox 30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02</a:t>
            </a:r>
            <a:endParaRPr/>
          </a:p>
        </p:txBody>
      </p:sp>
      <p:sp>
        <p:nvSpPr>
          <p:cNvPr id="1353710854" name="TextBox 32"/>
          <p:cNvSpPr txBox="1"/>
          <p:nvPr/>
        </p:nvSpPr>
        <p:spPr bwMode="auto">
          <a:xfrm rot="0">
            <a:off x="6842105" y="4830842"/>
            <a:ext cx="460631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ROS2 Humble 환경에서 TurtleBot3의 전/후/좌/우 이동 및 정지 기능 완벽 구현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90853230" name="TextBox 33"/>
          <p:cNvSpPr txBox="1"/>
          <p:nvPr/>
        </p:nvSpPr>
        <p:spPr bwMode="auto">
          <a:xfrm rot="0" flipH="0" flipV="0">
            <a:off x="6842105" y="4116449"/>
            <a:ext cx="4920395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정밀 기동 제어</a:t>
            </a:r>
            <a:endParaRPr/>
          </a:p>
        </p:txBody>
      </p:sp>
      <p:sp>
        <p:nvSpPr>
          <p:cNvPr id="312046600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289334296" name="TextBox 35"/>
          <p:cNvSpPr txBox="1"/>
          <p:nvPr/>
        </p:nvSpPr>
        <p:spPr bwMode="auto">
          <a:xfrm rot="0">
            <a:off x="12660509" y="4830842"/>
            <a:ext cx="460523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FastAPI 서버와 ROS2 Node를 브릿지로 연결하여 지연 없는 명령 하달 시스템 구축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806045551" name="TextBox 36"/>
          <p:cNvSpPr txBox="1"/>
          <p:nvPr/>
        </p:nvSpPr>
        <p:spPr bwMode="auto">
          <a:xfrm rot="0" flipH="0" flipV="0">
            <a:off x="12660509" y="4116449"/>
            <a:ext cx="495624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실시간 연동</a:t>
            </a:r>
            <a:endParaRPr/>
          </a:p>
        </p:txBody>
      </p:sp>
      <p:sp>
        <p:nvSpPr>
          <p:cNvPr id="1713205893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5" name="TextBox 15"/>
          <p:cNvSpPr txBox="1"/>
          <p:nvPr/>
        </p:nvSpPr>
        <p:spPr bwMode="auto">
          <a:xfrm rot="0" flipH="0" flipV="0">
            <a:off x="6179034" y="1232022"/>
            <a:ext cx="5929931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전체 아키텍처 흐름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03</a:t>
            </a:r>
            <a:endParaRPr/>
          </a:p>
        </p:txBody>
      </p:sp>
      <p:pic>
        <p:nvPicPr>
          <p:cNvPr id="314925918" name=""/>
          <p:cNvPicPr>
            <a:picLocks noChangeAspect="1"/>
          </p:cNvPicPr>
          <p:nvPr/>
        </p:nvPicPr>
        <p:blipFill>
          <a:blip r:embed="rId2"/>
          <a:srcRect l="0" t="0" r="0" b="77753"/>
          <a:stretch/>
        </p:blipFill>
        <p:spPr bwMode="auto">
          <a:xfrm flipH="0" flipV="0">
            <a:off x="6881813" y="2348404"/>
            <a:ext cx="4524375" cy="788276"/>
          </a:xfrm>
          <a:prstGeom prst="rect">
            <a:avLst/>
          </a:prstGeom>
        </p:spPr>
      </p:pic>
      <p:pic>
        <p:nvPicPr>
          <p:cNvPr id="480575879" name=""/>
          <p:cNvPicPr>
            <a:picLocks noChangeAspect="1"/>
          </p:cNvPicPr>
          <p:nvPr/>
        </p:nvPicPr>
        <p:blipFill>
          <a:blip r:embed="rId2"/>
          <a:srcRect l="0" t="20875" r="0" b="58268"/>
          <a:stretch/>
        </p:blipFill>
        <p:spPr bwMode="auto">
          <a:xfrm flipH="0" flipV="0">
            <a:off x="6881813" y="4039913"/>
            <a:ext cx="4524375" cy="739008"/>
          </a:xfrm>
          <a:prstGeom prst="rect">
            <a:avLst/>
          </a:prstGeom>
        </p:spPr>
      </p:pic>
      <p:pic>
        <p:nvPicPr>
          <p:cNvPr id="1766814118" name=""/>
          <p:cNvPicPr>
            <a:picLocks noChangeAspect="1"/>
          </p:cNvPicPr>
          <p:nvPr/>
        </p:nvPicPr>
        <p:blipFill>
          <a:blip r:embed="rId2"/>
          <a:srcRect l="0" t="38932" r="0" b="38413"/>
          <a:stretch/>
        </p:blipFill>
        <p:spPr bwMode="auto">
          <a:xfrm flipH="0" flipV="0">
            <a:off x="6881813" y="5732956"/>
            <a:ext cx="4524375" cy="802726"/>
          </a:xfrm>
          <a:prstGeom prst="rect">
            <a:avLst/>
          </a:prstGeom>
        </p:spPr>
      </p:pic>
      <p:pic>
        <p:nvPicPr>
          <p:cNvPr id="323472588" name=""/>
          <p:cNvPicPr>
            <a:picLocks noChangeAspect="1"/>
          </p:cNvPicPr>
          <p:nvPr/>
        </p:nvPicPr>
        <p:blipFill>
          <a:blip r:embed="rId2"/>
          <a:srcRect l="0" t="78401" r="0" b="0"/>
          <a:stretch/>
        </p:blipFill>
        <p:spPr bwMode="auto">
          <a:xfrm flipH="0" flipV="0">
            <a:off x="6881813" y="9204762"/>
            <a:ext cx="4524375" cy="765283"/>
          </a:xfrm>
          <a:prstGeom prst="rect">
            <a:avLst/>
          </a:prstGeom>
        </p:spPr>
      </p:pic>
      <p:pic>
        <p:nvPicPr>
          <p:cNvPr id="982868626" name=""/>
          <p:cNvPicPr>
            <a:picLocks noChangeAspect="1"/>
          </p:cNvPicPr>
          <p:nvPr/>
        </p:nvPicPr>
        <p:blipFill>
          <a:blip r:embed="rId2"/>
          <a:srcRect l="0" t="60660" r="0" b="18483"/>
          <a:stretch/>
        </p:blipFill>
        <p:spPr bwMode="auto">
          <a:xfrm flipH="0" flipV="0">
            <a:off x="6881813" y="7496831"/>
            <a:ext cx="4524375" cy="739008"/>
          </a:xfrm>
          <a:prstGeom prst="rect">
            <a:avLst/>
          </a:prstGeom>
        </p:spPr>
      </p:pic>
      <p:sp>
        <p:nvSpPr>
          <p:cNvPr id="1340047505" name=""/>
          <p:cNvSpPr/>
          <p:nvPr/>
        </p:nvSpPr>
        <p:spPr bwMode="auto">
          <a:xfrm rot="5399999" flipH="0" flipV="0">
            <a:off x="8749862" y="2676853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95402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sp>
        <p:nvSpPr>
          <p:cNvPr id="1893472632" name=""/>
          <p:cNvSpPr/>
          <p:nvPr/>
        </p:nvSpPr>
        <p:spPr bwMode="auto">
          <a:xfrm rot="5399999" flipH="0" flipV="0">
            <a:off x="8749863" y="7800920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9848679" name=""/>
          <p:cNvSpPr/>
          <p:nvPr/>
        </p:nvSpPr>
        <p:spPr bwMode="auto">
          <a:xfrm rot="5399999" flipH="0" flipV="0">
            <a:off x="8749863" y="4311868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179693" name=""/>
          <p:cNvSpPr/>
          <p:nvPr/>
        </p:nvSpPr>
        <p:spPr bwMode="auto">
          <a:xfrm rot="5399999" flipH="0" flipV="0">
            <a:off x="8749863" y="6090087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626279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911822269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98231245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250479826" name="TextBox 15"/>
          <p:cNvSpPr txBox="1"/>
          <p:nvPr/>
        </p:nvSpPr>
        <p:spPr bwMode="auto">
          <a:xfrm rot="0" flipH="0" flipV="0">
            <a:off x="5129250" y="1232022"/>
            <a:ext cx="7827094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시스템 아키텍처 다이어그램</a:t>
            </a:r>
            <a:endParaRPr/>
          </a:p>
        </p:txBody>
      </p:sp>
      <p:sp>
        <p:nvSpPr>
          <p:cNvPr id="2016125008" name="TextBox 16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04</a:t>
            </a:r>
            <a:endParaRPr/>
          </a:p>
        </p:txBody>
      </p:sp>
      <p:pic>
        <p:nvPicPr>
          <p:cNvPr id="32046548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pic>
        <p:nvPicPr>
          <p:cNvPr id="1548489384" name=""/>
          <p:cNvPicPr>
            <a:picLocks noChangeAspect="1"/>
          </p:cNvPicPr>
          <p:nvPr/>
        </p:nvPicPr>
        <p:blipFill>
          <a:blip r:embed="rId3"/>
          <a:srcRect l="1748" t="25180" r="0" b="33126"/>
          <a:stretch/>
        </p:blipFill>
        <p:spPr bwMode="auto">
          <a:xfrm flipH="0" flipV="0">
            <a:off x="6043048" y="4163392"/>
            <a:ext cx="6122055" cy="4135855"/>
          </a:xfrm>
          <a:prstGeom prst="rect">
            <a:avLst/>
          </a:prstGeom>
        </p:spPr>
      </p:pic>
      <p:pic>
        <p:nvPicPr>
          <p:cNvPr id="1620388945" name=""/>
          <p:cNvPicPr>
            <a:picLocks noChangeAspect="1"/>
          </p:cNvPicPr>
          <p:nvPr/>
        </p:nvPicPr>
        <p:blipFill>
          <a:blip r:embed="rId3"/>
          <a:srcRect l="22889" t="0" r="17450" b="74493"/>
          <a:stretch/>
        </p:blipFill>
        <p:spPr bwMode="auto">
          <a:xfrm flipH="0" flipV="0">
            <a:off x="1098048" y="4787565"/>
            <a:ext cx="3684670" cy="2507914"/>
          </a:xfrm>
          <a:prstGeom prst="rect">
            <a:avLst/>
          </a:prstGeom>
        </p:spPr>
      </p:pic>
      <p:pic>
        <p:nvPicPr>
          <p:cNvPr id="2054358413" name=""/>
          <p:cNvPicPr>
            <a:picLocks noChangeAspect="1"/>
          </p:cNvPicPr>
          <p:nvPr/>
        </p:nvPicPr>
        <p:blipFill>
          <a:blip r:embed="rId3"/>
          <a:srcRect l="14972" t="67060" r="16845" b="0"/>
          <a:stretch/>
        </p:blipFill>
        <p:spPr bwMode="auto">
          <a:xfrm flipH="0" flipV="0">
            <a:off x="13089868" y="4556667"/>
            <a:ext cx="4211052" cy="3238792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rot="16199998" flipH="1" flipV="1">
            <a:off x="4470191" y="2540999"/>
            <a:ext cx="3032312" cy="6277098"/>
          </a:xfrm>
          <a:prstGeom prst="bentConnector5">
            <a:avLst>
              <a:gd name="adj1" fmla="val -7299"/>
              <a:gd name="adj2" fmla="val 59886"/>
              <a:gd name="adj3" fmla="val 113165"/>
            </a:avLst>
          </a:prstGeom>
          <a:ln w="126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rot="0" flipH="0" flipV="1">
            <a:off x="9144360" y="4556667"/>
            <a:ext cx="6186318" cy="3749132"/>
          </a:xfrm>
          <a:prstGeom prst="bentConnector4">
            <a:avLst>
              <a:gd name="adj1" fmla="val 59496"/>
              <a:gd name="adj2" fmla="val 106097"/>
            </a:avLst>
          </a:prstGeom>
          <a:ln w="126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6" name="TextBox 6"/>
          <p:cNvSpPr txBox="1"/>
          <p:nvPr/>
        </p:nvSpPr>
        <p:spPr bwMode="auto">
          <a:xfrm rot="0">
            <a:off x="6720986" y="1148013"/>
            <a:ext cx="48604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</a:t>
            </a:r>
            <a:endParaRPr/>
          </a:p>
        </p:txBody>
      </p:sp>
      <p:sp>
        <p:nvSpPr>
          <p:cNvPr id="7" name="TextBox 7"/>
          <p:cNvSpPr txBox="1"/>
          <p:nvPr/>
        </p:nvSpPr>
        <p:spPr bwMode="auto">
          <a:xfrm rot="0">
            <a:off x="8477971" y="698837"/>
            <a:ext cx="133385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05</a:t>
            </a:r>
            <a:endParaRPr/>
          </a:p>
        </p:txBody>
      </p:sp>
      <p:pic>
        <p:nvPicPr>
          <p:cNvPr id="142240933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70976" y="2580967"/>
            <a:ext cx="5032087" cy="5035949"/>
          </a:xfrm>
          <a:prstGeom prst="rect">
            <a:avLst/>
          </a:prstGeom>
        </p:spPr>
      </p:pic>
      <p:pic>
        <p:nvPicPr>
          <p:cNvPr id="17481106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5740" y="2673145"/>
            <a:ext cx="5732645" cy="5270690"/>
          </a:xfrm>
          <a:prstGeom prst="rect">
            <a:avLst/>
          </a:prstGeom>
        </p:spPr>
      </p:pic>
      <p:pic>
        <p:nvPicPr>
          <p:cNvPr id="17479212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2078386" y="2897695"/>
            <a:ext cx="5775930" cy="4007245"/>
          </a:xfrm>
          <a:prstGeom prst="rect">
            <a:avLst/>
          </a:prstGeom>
        </p:spPr>
      </p:pic>
      <p:pic>
        <p:nvPicPr>
          <p:cNvPr id="669184339" name=""/>
          <p:cNvPicPr>
            <a:picLocks noChangeAspect="1"/>
          </p:cNvPicPr>
          <p:nvPr/>
        </p:nvPicPr>
        <p:blipFill>
          <a:blip r:embed="rId5"/>
          <a:srcRect l="0" t="32870" r="0" b="0"/>
          <a:stretch/>
        </p:blipFill>
        <p:spPr bwMode="auto">
          <a:xfrm flipH="0" flipV="0">
            <a:off x="12098560" y="7360045"/>
            <a:ext cx="5755756" cy="26806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29913" name=""/>
          <p:cNvSpPr/>
          <p:nvPr/>
        </p:nvSpPr>
        <p:spPr bwMode="auto">
          <a:xfrm flipH="0" flipV="0">
            <a:off x="286913" y="24447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297722778" name="Group 2"/>
          <p:cNvGrpSpPr/>
          <p:nvPr/>
        </p:nvGrpSpPr>
        <p:grpSpPr bwMode="auto">
          <a:xfrm rot="0" flipH="0" flipV="0">
            <a:off x="570051" y="2787939"/>
            <a:ext cx="5333078" cy="3246704"/>
            <a:chOff x="0" y="0"/>
            <a:chExt cx="5333078" cy="3246704"/>
          </a:xfrm>
        </p:grpSpPr>
        <p:sp>
          <p:nvSpPr>
            <p:cNvPr id="933593190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812688706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74708872" name="Group 11"/>
          <p:cNvGrpSpPr/>
          <p:nvPr/>
        </p:nvGrpSpPr>
        <p:grpSpPr bwMode="auto">
          <a:xfrm rot="0">
            <a:off x="939694" y="3274827"/>
            <a:ext cx="878444" cy="334807"/>
            <a:chOff x="0" y="0"/>
            <a:chExt cx="180750" cy="68890"/>
          </a:xfrm>
        </p:grpSpPr>
        <p:sp>
          <p:nvSpPr>
            <p:cNvPr id="442224380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80921718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08014613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740827832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704598920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953150818" name="TextBox 26"/>
          <p:cNvSpPr txBox="1"/>
          <p:nvPr/>
        </p:nvSpPr>
        <p:spPr bwMode="auto">
          <a:xfrm rot="0" flipH="0" flipV="0">
            <a:off x="939694" y="4510284"/>
            <a:ext cx="4809533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경량화된 Whisper Tiny 모델의 성능 한계로 인해 한국어 음성 명령어의 인식률이 낮아 오작동이 발생했습니다.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55901799" name="TextBox 27"/>
          <p:cNvSpPr txBox="1"/>
          <p:nvPr/>
        </p:nvSpPr>
        <p:spPr bwMode="auto">
          <a:xfrm rot="0" flipH="0" flipV="0">
            <a:off x="939692" y="3795891"/>
            <a:ext cx="4854536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STT 한국어 인식률 저하 문제</a:t>
            </a:r>
            <a:endParaRPr sz="2600"/>
          </a:p>
        </p:txBody>
      </p:sp>
      <p:sp>
        <p:nvSpPr>
          <p:cNvPr id="1150516140" name="TextBox 28"/>
          <p:cNvSpPr txBox="1"/>
          <p:nvPr/>
        </p:nvSpPr>
        <p:spPr bwMode="auto">
          <a:xfrm rot="0">
            <a:off x="1116011" y="32993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915255972" name="TextBox 29"/>
          <p:cNvSpPr txBox="1"/>
          <p:nvPr/>
        </p:nvSpPr>
        <p:spPr bwMode="auto">
          <a:xfrm rot="0">
            <a:off x="6720986" y="1149911"/>
            <a:ext cx="4888146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1218155650" name="TextBox 30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06</a:t>
            </a:r>
            <a:endParaRPr/>
          </a:p>
        </p:txBody>
      </p:sp>
      <p:grpSp>
        <p:nvGrpSpPr>
          <p:cNvPr id="641999455" name="Group 2"/>
          <p:cNvGrpSpPr/>
          <p:nvPr/>
        </p:nvGrpSpPr>
        <p:grpSpPr bwMode="auto">
          <a:xfrm rot="0" flipH="0" flipV="0">
            <a:off x="570051" y="6498946"/>
            <a:ext cx="5333078" cy="2951301"/>
            <a:chOff x="0" y="0"/>
            <a:chExt cx="5333078" cy="2951301"/>
          </a:xfrm>
        </p:grpSpPr>
        <p:sp>
          <p:nvSpPr>
            <p:cNvPr id="1022722076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184038170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373867781" name="TextBox 26"/>
          <p:cNvSpPr txBox="1"/>
          <p:nvPr/>
        </p:nvSpPr>
        <p:spPr bwMode="auto">
          <a:xfrm rot="0" flipH="0" flipV="0">
            <a:off x="939692" y="7606775"/>
            <a:ext cx="4723796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음성 인식 결과물에 명령어 키워드 중심의 후처리 로직과 예외 처리 코드를 추가했습니다.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704900982" name="TextBox 27"/>
          <p:cNvSpPr txBox="1"/>
          <p:nvPr/>
        </p:nvSpPr>
        <p:spPr bwMode="auto">
          <a:xfrm rot="0" flipH="0" flipV="0">
            <a:off x="939692" y="6769479"/>
            <a:ext cx="424304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984301391" name=""/>
          <p:cNvSpPr/>
          <p:nvPr/>
        </p:nvSpPr>
        <p:spPr bwMode="auto">
          <a:xfrm flipH="0" flipV="0">
            <a:off x="6308846" y="24276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70154790" name="Group 2"/>
          <p:cNvGrpSpPr/>
          <p:nvPr/>
        </p:nvGrpSpPr>
        <p:grpSpPr bwMode="auto">
          <a:xfrm rot="0" flipH="0" flipV="0">
            <a:off x="6591986" y="2770839"/>
            <a:ext cx="5333078" cy="3246704"/>
            <a:chOff x="0" y="0"/>
            <a:chExt cx="5333078" cy="3246704"/>
          </a:xfrm>
        </p:grpSpPr>
        <p:sp>
          <p:nvSpPr>
            <p:cNvPr id="490382312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704626164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061366308" name="Group 11"/>
          <p:cNvGrpSpPr/>
          <p:nvPr/>
        </p:nvGrpSpPr>
        <p:grpSpPr bwMode="auto">
          <a:xfrm rot="0">
            <a:off x="6961629" y="3257727"/>
            <a:ext cx="878444" cy="334807"/>
            <a:chOff x="0" y="0"/>
            <a:chExt cx="180750" cy="68890"/>
          </a:xfrm>
        </p:grpSpPr>
        <p:sp>
          <p:nvSpPr>
            <p:cNvPr id="1837881509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503161257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025310760" name="TextBox 26"/>
          <p:cNvSpPr txBox="1"/>
          <p:nvPr/>
        </p:nvSpPr>
        <p:spPr bwMode="auto">
          <a:xfrm rot="0" flipH="0" flipV="0">
            <a:off x="6961629" y="4493184"/>
            <a:ext cx="4788348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음성 인식(STT)은 정상적으로 완료되었으나, 그 결과가 ROS(로봇 운영체제) 명령으로 연동되지 않아 로봇이 움직이지 않았습니다.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564118713" name="TextBox 27"/>
          <p:cNvSpPr txBox="1"/>
          <p:nvPr/>
        </p:nvSpPr>
        <p:spPr bwMode="auto">
          <a:xfrm rot="0" flipH="0" flipV="0">
            <a:off x="6961628" y="3778791"/>
            <a:ext cx="42156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명령 후 로봇 미구동 문제</a:t>
            </a:r>
            <a:endParaRPr sz="2600"/>
          </a:p>
        </p:txBody>
      </p:sp>
      <p:sp>
        <p:nvSpPr>
          <p:cNvPr id="59835901" name="TextBox 28"/>
          <p:cNvSpPr txBox="1"/>
          <p:nvPr/>
        </p:nvSpPr>
        <p:spPr bwMode="auto">
          <a:xfrm rot="0">
            <a:off x="7137946" y="32822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grpSp>
        <p:nvGrpSpPr>
          <p:cNvPr id="553610350" name="Group 2"/>
          <p:cNvGrpSpPr/>
          <p:nvPr/>
        </p:nvGrpSpPr>
        <p:grpSpPr bwMode="auto">
          <a:xfrm rot="0" flipH="0" flipV="0">
            <a:off x="6591986" y="6481846"/>
            <a:ext cx="5333078" cy="2951301"/>
            <a:chOff x="0" y="0"/>
            <a:chExt cx="5333078" cy="2951301"/>
          </a:xfrm>
        </p:grpSpPr>
        <p:sp>
          <p:nvSpPr>
            <p:cNvPr id="698080075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94368762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865978697" name="TextBox 26"/>
          <p:cNvSpPr txBox="1"/>
          <p:nvPr/>
        </p:nvSpPr>
        <p:spPr bwMode="auto">
          <a:xfrm rot="0" flipH="0" flipV="0">
            <a:off x="6961628" y="7589675"/>
            <a:ext cx="4789429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STT 텍스트 데이터를 ROS 토픽(Topic) 명령으로 전환하여 매핑해주는 중계 로직의 오류를 수정했습니다.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589664779" name="TextBox 27"/>
          <p:cNvSpPr txBox="1"/>
          <p:nvPr/>
        </p:nvSpPr>
        <p:spPr bwMode="auto">
          <a:xfrm rot="0" flipH="0" flipV="0">
            <a:off x="6961628" y="6752379"/>
            <a:ext cx="424052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1560668465" name=""/>
          <p:cNvSpPr/>
          <p:nvPr/>
        </p:nvSpPr>
        <p:spPr bwMode="auto">
          <a:xfrm flipH="0" flipV="0">
            <a:off x="12300379" y="24276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997369494" name="Group 2"/>
          <p:cNvGrpSpPr/>
          <p:nvPr/>
        </p:nvGrpSpPr>
        <p:grpSpPr bwMode="auto">
          <a:xfrm rot="0" flipH="0" flipV="0">
            <a:off x="12583518" y="2770839"/>
            <a:ext cx="5333078" cy="3246704"/>
            <a:chOff x="0" y="0"/>
            <a:chExt cx="5333078" cy="3246704"/>
          </a:xfrm>
        </p:grpSpPr>
        <p:sp>
          <p:nvSpPr>
            <p:cNvPr id="1408452055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976963573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91878723" name="Group 11"/>
          <p:cNvGrpSpPr/>
          <p:nvPr/>
        </p:nvGrpSpPr>
        <p:grpSpPr bwMode="auto">
          <a:xfrm rot="0">
            <a:off x="12953161" y="3257727"/>
            <a:ext cx="878444" cy="334807"/>
            <a:chOff x="0" y="0"/>
            <a:chExt cx="180750" cy="68890"/>
          </a:xfrm>
        </p:grpSpPr>
        <p:sp>
          <p:nvSpPr>
            <p:cNvPr id="1317315090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37070368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41296543" name="TextBox 26"/>
          <p:cNvSpPr txBox="1"/>
          <p:nvPr/>
        </p:nvSpPr>
        <p:spPr bwMode="auto">
          <a:xfrm rot="0" flipH="0" flipV="0">
            <a:off x="12953161" y="4493184"/>
            <a:ext cx="4711108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Piper 한국어 모델의 자체 품질 및 시스템 호환성 문제로 인해 출력되는 TTS 음성이 심하게 부자연스러웠습니다.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142332278" name="TextBox 27"/>
          <p:cNvSpPr txBox="1"/>
          <p:nvPr/>
        </p:nvSpPr>
        <p:spPr bwMode="auto">
          <a:xfrm rot="0" flipH="0" flipV="0">
            <a:off x="12953160" y="3778791"/>
            <a:ext cx="42156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TTS 음성 출력 품질 저하 문제</a:t>
            </a:r>
            <a:endParaRPr sz="2600"/>
          </a:p>
        </p:txBody>
      </p:sp>
      <p:sp>
        <p:nvSpPr>
          <p:cNvPr id="209782563" name="TextBox 28"/>
          <p:cNvSpPr txBox="1"/>
          <p:nvPr/>
        </p:nvSpPr>
        <p:spPr bwMode="auto">
          <a:xfrm rot="0">
            <a:off x="13129478" y="32822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grpSp>
        <p:nvGrpSpPr>
          <p:cNvPr id="81278566" name="Group 2"/>
          <p:cNvGrpSpPr/>
          <p:nvPr/>
        </p:nvGrpSpPr>
        <p:grpSpPr bwMode="auto">
          <a:xfrm rot="0" flipH="0" flipV="0">
            <a:off x="12583518" y="6481846"/>
            <a:ext cx="5333078" cy="2951301"/>
            <a:chOff x="0" y="0"/>
            <a:chExt cx="5333078" cy="2951301"/>
          </a:xfrm>
        </p:grpSpPr>
        <p:sp>
          <p:nvSpPr>
            <p:cNvPr id="1465584108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792352858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84067820" name="TextBox 26"/>
          <p:cNvSpPr txBox="1"/>
          <p:nvPr/>
        </p:nvSpPr>
        <p:spPr bwMode="auto">
          <a:xfrm rot="0" flipH="0" flipV="0">
            <a:off x="12953160" y="7589675"/>
            <a:ext cx="4712549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현재 개발 환경 내에서 단기간에 요구 품질을 달성하기 어렵다고 판단하여, 시스템 리소스 효율화를 위해 해당 기능을 과감히 제거했습니다.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098889660" name="TextBox 27"/>
          <p:cNvSpPr txBox="1"/>
          <p:nvPr/>
        </p:nvSpPr>
        <p:spPr bwMode="auto">
          <a:xfrm rot="0" flipH="0" flipV="0">
            <a:off x="12953160" y="6752379"/>
            <a:ext cx="42149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인식 제어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194445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493812265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895946019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088927728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957135041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975266158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571900613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08595588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374532596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7399893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853734588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14839071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7576405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24606558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18177792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917198176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49183862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63356358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4984698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171674626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640450023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5801544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8438732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65054663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823260876" name="TextBox 26"/>
          <p:cNvSpPr txBox="1"/>
          <p:nvPr/>
        </p:nvSpPr>
        <p:spPr bwMode="auto">
          <a:xfrm rot="0" flipH="0" flipV="0">
            <a:off x="1028700" y="4830842"/>
            <a:ext cx="4822239" cy="228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너무 완벽한 기술 구현에 매달리기보다는, 상황에 맞춰 꼭 필요한 기능에 집중하는 유연함이 중요했습니다.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성능이 떨어지는 음성 출력 기능은 과감히 빼고 로봇의 명령어 인식률을 높이는 데 집중하여 완성도를 훨씬 높일 수 있었습니다.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617976697" name="TextBox 27"/>
          <p:cNvSpPr txBox="1"/>
          <p:nvPr/>
        </p:nvSpPr>
        <p:spPr bwMode="auto">
          <a:xfrm rot="0" flipH="0" flipV="0">
            <a:off x="1028698" y="4116449"/>
            <a:ext cx="482224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선택과 집중의 중요성</a:t>
            </a:r>
            <a:endParaRPr sz="2400"/>
          </a:p>
        </p:txBody>
      </p:sp>
      <p:sp>
        <p:nvSpPr>
          <p:cNvPr id="189588874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1956317240" name="TextBox 29"/>
          <p:cNvSpPr txBox="1"/>
          <p:nvPr/>
        </p:nvSpPr>
        <p:spPr bwMode="auto">
          <a:xfrm rot="0">
            <a:off x="6691647" y="1149911"/>
            <a:ext cx="4905425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1305936943" name="TextBox 30"/>
          <p:cNvSpPr txBox="1"/>
          <p:nvPr/>
        </p:nvSpPr>
        <p:spPr bwMode="auto">
          <a:xfrm rot="0">
            <a:off x="8477971" y="698837"/>
            <a:ext cx="133313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07</a:t>
            </a:r>
            <a:endParaRPr/>
          </a:p>
        </p:txBody>
      </p:sp>
      <p:sp>
        <p:nvSpPr>
          <p:cNvPr id="614262638" name="TextBox 32"/>
          <p:cNvSpPr txBox="1"/>
          <p:nvPr/>
        </p:nvSpPr>
        <p:spPr bwMode="auto">
          <a:xfrm rot="0">
            <a:off x="6842105" y="4830842"/>
            <a:ext cx="4835987" cy="228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각각의 기능이 아무리 훌륭해도 서로 제대로 연결되지 않으면 로봇은 결국 움직이지 않는다는 점을 배웠습니다.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앞으로는 개별 기능을 잘 만드는 것만큼이나, 각 기능이 자연스럽게 맞물려 돌아가도록 더 많은 신경을 써야겠습니다.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0134728" name="TextBox 33"/>
          <p:cNvSpPr txBox="1"/>
          <p:nvPr/>
        </p:nvSpPr>
        <p:spPr bwMode="auto">
          <a:xfrm rot="0" flipH="0" flipV="0">
            <a:off x="6842105" y="4116449"/>
            <a:ext cx="4945592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개별 기능보다 전체 시스템의 연결</a:t>
            </a:r>
            <a:endParaRPr sz="2400"/>
          </a:p>
        </p:txBody>
      </p:sp>
      <p:sp>
        <p:nvSpPr>
          <p:cNvPr id="1135553062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1535753461" name="TextBox 35"/>
          <p:cNvSpPr txBox="1"/>
          <p:nvPr/>
        </p:nvSpPr>
        <p:spPr bwMode="auto">
          <a:xfrm rot="0">
            <a:off x="12549384" y="4830842"/>
            <a:ext cx="4853268" cy="196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무조건 최신 버전을 사용하는 것이 항상 좋지는 않으며, 오히려 기존 프로그램들과 충돌해 전체 시스템을 멈추게 할 수 있다는 점을 확인했습니다.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여러 프로그램이 문제없이 함께 돌아갈 수 있도록 가장 안정적인 상태를 찾아 그 환경을 꼼꼼하게 유지하는 것이 기본임을 깨달았습니다.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62630024" name="TextBox 36"/>
          <p:cNvSpPr txBox="1"/>
          <p:nvPr/>
        </p:nvSpPr>
        <p:spPr bwMode="auto">
          <a:xfrm rot="0" flipH="0" flipV="0">
            <a:off x="12549384" y="4116449"/>
            <a:ext cx="520121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무조건 최신보다는 안정성이 검증된 환경</a:t>
            </a:r>
            <a:endParaRPr sz="2400"/>
          </a:p>
        </p:txBody>
      </p:sp>
      <p:sp>
        <p:nvSpPr>
          <p:cNvPr id="225095276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7" name="TextBox 27"/>
          <p:cNvSpPr txBox="1"/>
          <p:nvPr/>
        </p:nvSpPr>
        <p:spPr bwMode="auto">
          <a:xfrm rot="0">
            <a:off x="6720986" y="1149911"/>
            <a:ext cx="487158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08</a:t>
            </a:r>
            <a:endParaRPr/>
          </a:p>
        </p:txBody>
      </p:sp>
      <p:sp>
        <p:nvSpPr>
          <p:cNvPr id="1718540043" name=""/>
          <p:cNvSpPr txBox="1"/>
          <p:nvPr/>
        </p:nvSpPr>
        <p:spPr bwMode="auto">
          <a:xfrm flipH="0" flipV="0">
            <a:off x="5208874" y="4960620"/>
            <a:ext cx="8485488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000" u="sng">
                <a:hlinkClick r:id="rId2" tooltip="https://drive.google.com/drive/folders/19Hw-eozOCE5qupkH6PRV259tjLsn-rKD?usp=drive_link"/>
              </a:rPr>
              <a:t>https://drive.google.com/drive/folders/19Hw-eozOCE5qupkH6PRV259tjLsn-rKD?usp=drive_link</a:t>
            </a:r>
            <a:endParaRPr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>
            <a:off x="6720986" y="1148013"/>
            <a:ext cx="48478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Q &amp; A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09</a:t>
            </a:r>
            <a:endParaRPr/>
          </a:p>
        </p:txBody>
      </p:sp>
      <p:pic>
        <p:nvPicPr>
          <p:cNvPr id="204230323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725674" y="3317327"/>
            <a:ext cx="6969830" cy="6969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4850842" y="4999825"/>
            <a:ext cx="8586316" cy="678447"/>
            <a:chOff x="0" y="0"/>
            <a:chExt cx="1013522" cy="8008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13522" cy="80083"/>
            </a:xfrm>
            <a:custGeom>
              <a:avLst/>
              <a:gdLst/>
              <a:ahLst/>
              <a:cxnLst/>
              <a:rect l="l" t="t" r="r" b="b"/>
              <a:pathLst>
                <a:path w="1013522" h="80083" fill="norm" stroke="1" extrusionOk="0">
                  <a:moveTo>
                    <a:pt x="0" y="0"/>
                  </a:moveTo>
                  <a:lnTo>
                    <a:pt x="1013522" y="0"/>
                  </a:lnTo>
                  <a:lnTo>
                    <a:pt x="1013522" y="80083"/>
                  </a:lnTo>
                  <a:lnTo>
                    <a:pt x="0" y="8008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13522" cy="1181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6597212" y="4160842"/>
            <a:ext cx="525780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  <a:defRPr/>
            </a:pPr>
            <a:r>
              <a:rPr lang="en-US" sz="9000">
                <a:solidFill>
                  <a:srgbClr val="272626"/>
                </a:solidFill>
                <a:latin typeface="Noto Sans Kr Light"/>
                <a:ea typeface="Noto Sans Kr Light"/>
                <a:cs typeface="Noto Sans Kr Light"/>
              </a:rPr>
              <a:t>감사합니다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단순한 프레젠테이션 발표</dc:title>
  <dc:subject/>
  <dc:creator/>
  <cp:keywords/>
  <dc:description/>
  <dc:identifier>DAHOwNNgdE8</dc:identifier>
  <dc:language/>
  <cp:lastModifiedBy>Guset_510</cp:lastModifiedBy>
  <cp:revision>15</cp:revision>
  <dcterms:created xsi:type="dcterms:W3CDTF">2006-08-16T00:00:00Z</dcterms:created>
  <dcterms:modified xsi:type="dcterms:W3CDTF">2026-07-10T04:17:46Z</dcterms:modified>
  <cp:category/>
  <cp:contentStatus/>
  <cp:version/>
</cp:coreProperties>
</file>